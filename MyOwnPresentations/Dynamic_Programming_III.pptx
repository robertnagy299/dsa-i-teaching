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8" r:id="rId3"/>
    <p:sldId id="256" r:id="rId4"/>
    <p:sldId id="257" r:id="rId5"/>
    <p:sldId id="261" r:id="rId6"/>
    <p:sldId id="260" r:id="rId7"/>
    <p:sldId id="259" r:id="rId8"/>
    <p:sldId id="263" r:id="rId9"/>
    <p:sldId id="264" r:id="rId10"/>
    <p:sldId id="262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EC44F-6DFA-5075-0B86-B5306349A1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597921-7ECB-ABBA-E77B-FDA7D67CE5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6002F-E558-8A13-2152-E7B61E4B2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6557E9-9F21-3729-A090-343AC52C2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79E2FC-8254-1C5D-3B12-06610B423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113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A5559-64D9-F613-52CB-5806C8839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6CC10-59AA-7BBC-31FF-613D32D99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6A0AA6-BD8A-4F87-D665-88F5B0996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31CB93-390D-5418-F2E8-DA13BA2B2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FD069F-7B34-1CED-C130-D377DAEDA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6612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800F1-A4F6-BD2C-00E5-465C05DC2E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BC96A3-4EA0-366E-BE31-72324A3FB5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275A7B-9948-8543-5D18-599780B53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A872B-7DFF-DF08-1B5F-167F250DC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7B83CF-AA56-8537-4925-4F303F3B5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276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6F957-A391-EC4F-E3A2-DB0C99C44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253B5-C49B-26ED-C881-1FBDE7DDC9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D7F2F7-8E88-0B86-73E6-5EB9BE3708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36359A-D9C8-A50E-A7D3-53DC879F2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52B38B-669F-E8CF-D0B4-4A5AA017E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470C4-3119-9511-5596-8E7BB0CC4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824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1CE22-82F7-790E-B98E-91242541C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5975D1-981B-D1D2-61E6-D847F4E503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EE2DDE-E99C-A56A-CCAD-B7D52219CB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CCB2C0-862F-E229-C381-D32835CB03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4E3F45-3C15-616F-26E0-C6E4867D53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6A2DFC-327F-E2DA-544F-DEB8C88DE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87E9CD-8A23-00C4-823B-FFBC6BE4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92D4C6-A9DD-2056-C1D2-1CB60554C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586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6F881-4A60-5646-79DB-77BC47F02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F02FD6-92DC-EF9D-ABC7-80EDB1B10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EA7743-A897-D71B-2B7B-7C9C94C92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F2B11B-1CD3-AFBB-C64C-6B7840ED1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7145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98C256-89D4-7DD9-39DE-D55B00B9F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BB5E91F-EBDB-2AF6-9FDA-ECD5738B4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86DE6D-4031-5EA6-AC8F-AD187C8FB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24822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8834E-8E2B-3C73-9CC9-8DEF01118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5DD87D-DB23-592F-2927-E830B9086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33AE34-DFE8-2025-2733-3B5AAE56A3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D0078C-61BA-E207-73F7-BD221DB66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9F5E6F-9BBE-C87C-32DD-FC33CAFDD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6FF881-AFFF-C4CD-B733-1FCC0CACA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6262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1FB47C-74AB-DC92-3CB7-101B98AF5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2BB95E-AEBC-54DB-C6CA-CBBA460AF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369BCC-A30F-871A-6A28-FC6DC2E7CC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CAB941-09A8-435B-7BD6-EEC0BA126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77334D-6157-1B1E-F901-E09DB779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E35703-53E9-9852-887B-2900B6B37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510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08EB3-F4DE-4C53-F234-9838F7B20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38B613-8636-47D2-3358-9BF0BC3C4D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A25C21-29CF-2A9B-2A28-3720B1260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18702D-F0DF-5312-B641-406A8F4FF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3CDBF2-3C0F-7068-35B5-CA60B31CD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992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6A2A6E-C919-24A8-6588-CBE5B64C13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A25624-4B3C-1C1F-49B0-4C5572311C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36CA8-D208-0438-F215-33B5C4A9F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868A1-B458-41A6-8BAE-A278B7B597FD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754FE-F870-B3E3-2CE9-E7620D81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026C7-884F-4698-38D8-F9070F2BC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5074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E241-8B2D-ECEF-1744-39FA11751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C4B584-F076-BFF5-2434-985C49B34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6BE45-9333-2FDA-D229-BB7F94A5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9F73C-3050-7F08-0988-E7AEA1F8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D4AD9-A904-5C5F-CDA1-D8026F1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1571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5DA2-4849-C734-D90A-A02D0BDBE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2D88-0BC7-285A-7150-77A3E5324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DFE6-67D6-6929-B0D7-1E50EFD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F74CE-909D-327A-16CE-F8B08425B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4D6BD-363C-FFDE-0147-FCB593507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709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BFB66-FED5-C23F-A119-56847871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0F3DC-C4FA-9B3E-0A41-B994BE54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6593-7605-6B6A-43F8-A75CE3FC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20ADF-AB69-F8FF-7D51-F02E7801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14165-98C3-E8F8-9238-5B86EC40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0769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FA95-D666-B294-DAA1-F38D600B4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57B3-312E-150E-FAC4-37CAE3F7A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D6F15-44BA-54B3-0C6E-93D10704E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0D678-A6C5-B023-1F27-3F4DF5C9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D8DA-3B85-9DB5-2A7E-64796A35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B562F-1AFF-0C90-B6D3-AA0AC246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4144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3A3E-D984-E5EE-B50B-82D6A146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172E0-233A-777A-19F0-886F8F7F8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6BBD-7869-1FA8-E9C2-0F2A5E46C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F7557-A959-94A1-6DAA-946B541C0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A3DB72-1531-44DB-2BB0-1C3A9CCC62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86509-38A8-DEB0-AC4E-60273B6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595E2D-3FCE-7663-ADDD-B9D2BABB7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5A61D-0F2E-5F50-3F85-96416B9B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4973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F628-9666-D68E-8925-4C88B845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FE773-9442-F217-C0F2-3E90F36E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2FF80-E9B3-F78D-421C-077FDDE0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B4EFF-CFDA-40BC-8C59-EF47FC2B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2515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2CD6C-62A6-7807-BCA5-9C954C03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D1C279-D75F-759D-4B09-34A88054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E702A-5E82-A436-1CF1-AC1A5F1D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9444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255C2-612A-1713-E9F9-C567C49EF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C25D3-AC77-BEC9-CAE2-E0B56C6C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0BF17-72D6-4C5F-63BF-63E09F84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6480D-1305-DBDC-69F1-7F5788D2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0CE9-13D7-28C9-516A-5F548EC30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8DFF4-9934-70B9-FF5A-14DECC12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508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A2AC-3BFC-8D13-F061-1D8BA629F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17838-5D5F-1AC4-2AA6-AB201A498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495F-243C-04C6-D8FF-44A21B7A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3BC94-BB1D-03FB-0C2A-5A2874C6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8AE6C-6A78-516D-60F4-3DDC1EB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5DE6A-457E-2A89-A0BB-5A61AD89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92200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1E31-AC2E-E027-6BCA-8959DD37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8F0C-E592-BC50-EACE-A200D9D69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0F7BB-297F-7BA6-2B9B-CCB896D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B0D6-482B-29F6-26D6-5EDD7B77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74FB8-D633-35BA-DDD7-CD6F085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96430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FD6B4B-D467-2CC4-B071-114D099A0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4A8AA-9629-7368-7203-3E2A03E01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85EF8-CBC7-A453-61F9-476116AF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CAA67-64B2-580A-F610-CEBEFC32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326A-582B-1C6F-4791-84ACA558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94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19581E-1B4A-CA82-75B4-55E2FAD8A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EC4B58-1489-A63B-5652-B1446C0903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9DC8D-EFDC-C1B5-C0B1-B2E3BE71E2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2868A1-B458-41A6-8BAE-A278B7B597FD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4DC705-B24A-4F0C-9E99-C40583C358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F8C6A8-602C-CB9C-94B2-DA28F0F1C2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21390F-C87B-44F9-A2E6-809AB5BC15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08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C7DE6-1EEF-DF17-75D8-A6F6D634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223C0-1BCC-71E5-EE23-D01197BC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1058-303A-EE33-694F-DE56AC03D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41930-F8FC-4542-827E-E504F4750562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59B44-5FCF-3438-7C14-156D364CBA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E7A8B-89D9-BA6F-C698-C50583E7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4128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rtofcse.com/learning/introduction-to-dynamic-programming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www.youtube.com/watch?v=KnWorqyDSLA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6" name="Rectangle 135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9A9A-32C5-C019-66BA-65438A784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442" y="921715"/>
            <a:ext cx="5163022" cy="2635993"/>
          </a:xfrm>
        </p:spPr>
        <p:txBody>
          <a:bodyPr anchor="b">
            <a:normAutofit/>
          </a:bodyPr>
          <a:lstStyle/>
          <a:p>
            <a:pPr algn="l"/>
            <a:r>
              <a:rPr lang="en-US" sz="4800"/>
              <a:t>Data Structures and Algorithms I.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F5B50-E332-CBF2-D1A2-66ADD2849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442" y="4541263"/>
            <a:ext cx="4662957" cy="1395022"/>
          </a:xfrm>
        </p:spPr>
        <p:txBody>
          <a:bodyPr anchor="t">
            <a:normAutofit/>
          </a:bodyPr>
          <a:lstStyle/>
          <a:p>
            <a:pPr algn="l"/>
            <a:r>
              <a:rPr lang="hu-HU" dirty="0">
                <a:solidFill>
                  <a:srgbClr val="FFFFFF"/>
                </a:solidFill>
              </a:rPr>
              <a:t>University of </a:t>
            </a:r>
            <a:r>
              <a:rPr lang="en-US" dirty="0">
                <a:solidFill>
                  <a:srgbClr val="FFFFFF"/>
                </a:solidFill>
              </a:rPr>
              <a:t>Szeged </a:t>
            </a:r>
          </a:p>
          <a:p>
            <a:pPr algn="l"/>
            <a:r>
              <a:rPr lang="en-US" sz="1600" dirty="0">
                <a:solidFill>
                  <a:srgbClr val="FFFFFF"/>
                </a:solidFill>
              </a:rPr>
              <a:t>Robert Nagy</a:t>
            </a:r>
          </a:p>
          <a:p>
            <a:pPr algn="l"/>
            <a:r>
              <a:rPr lang="en-US" dirty="0">
                <a:solidFill>
                  <a:srgbClr val="FFFFFF"/>
                </a:solidFill>
              </a:rPr>
              <a:t>2025/26. Autumn Semester</a:t>
            </a:r>
          </a:p>
          <a:p>
            <a:pPr algn="l"/>
            <a:endParaRPr lang="hu-HU" dirty="0">
              <a:solidFill>
                <a:srgbClr val="FFFFFF"/>
              </a:solidFill>
            </a:endParaRPr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F6E8DA17-1D3B-550A-937D-6AA2C49DC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573907" y="658489"/>
            <a:ext cx="5163022" cy="5163022"/>
          </a:xfrm>
          <a:prstGeom prst="rect">
            <a:avLst/>
          </a:prstGeom>
        </p:spPr>
      </p:pic>
      <p:sp>
        <p:nvSpPr>
          <p:cNvPr id="144" name="Rectangle 143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1004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68E2D1-F515-F457-2C09-5043AF45C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97762" y="640080"/>
            <a:ext cx="6251110" cy="3566160"/>
          </a:xfrm>
        </p:spPr>
        <p:txBody>
          <a:bodyPr anchor="b">
            <a:normAutofit/>
          </a:bodyPr>
          <a:lstStyle/>
          <a:p>
            <a:pPr algn="l"/>
            <a:r>
              <a:rPr lang="en-US" sz="5400" dirty="0"/>
              <a:t>Dynamic Programming</a:t>
            </a:r>
          </a:p>
        </p:txBody>
      </p:sp>
      <p:pic>
        <p:nvPicPr>
          <p:cNvPr id="4" name="Picture 3" descr="Computer script on a screen">
            <a:extLst>
              <a:ext uri="{FF2B5EF4-FFF2-40B4-BE49-F238E27FC236}">
                <a16:creationId xmlns:a16="http://schemas.microsoft.com/office/drawing/2014/main" id="{1F83B865-38AB-DCA3-A20E-0BC32C98DC0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55" r="47614" b="-1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7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2862" y="440926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563791 w 4243589"/>
              <a:gd name="connsiteY1" fmla="*/ 0 h 18288"/>
              <a:gd name="connsiteX2" fmla="*/ 1042710 w 4243589"/>
              <a:gd name="connsiteY2" fmla="*/ 0 h 18288"/>
              <a:gd name="connsiteX3" fmla="*/ 1564066 w 4243589"/>
              <a:gd name="connsiteY3" fmla="*/ 0 h 18288"/>
              <a:gd name="connsiteX4" fmla="*/ 2212729 w 4243589"/>
              <a:gd name="connsiteY4" fmla="*/ 0 h 18288"/>
              <a:gd name="connsiteX5" fmla="*/ 2776520 w 4243589"/>
              <a:gd name="connsiteY5" fmla="*/ 0 h 18288"/>
              <a:gd name="connsiteX6" fmla="*/ 3297875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637362 w 4243589"/>
              <a:gd name="connsiteY9" fmla="*/ 18288 h 18288"/>
              <a:gd name="connsiteX10" fmla="*/ 3116007 w 4243589"/>
              <a:gd name="connsiteY10" fmla="*/ 18288 h 18288"/>
              <a:gd name="connsiteX11" fmla="*/ 2424908 w 4243589"/>
              <a:gd name="connsiteY11" fmla="*/ 18288 h 18288"/>
              <a:gd name="connsiteX12" fmla="*/ 1861117 w 4243589"/>
              <a:gd name="connsiteY12" fmla="*/ 18288 h 18288"/>
              <a:gd name="connsiteX13" fmla="*/ 1382198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379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DD78A-7A12-D972-6256-F3E6A0E26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Fibonacci numbers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D3C2BF-9336-4966-B075-ED38CBBBC224}"/>
                  </a:ext>
                </a:extLst>
              </p:cNvPr>
              <p:cNvSpPr txBox="1"/>
              <p:nvPr/>
            </p:nvSpPr>
            <p:spPr>
              <a:xfrm>
                <a:off x="838200" y="2405743"/>
                <a:ext cx="6894516" cy="7386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0" i="1" smtClean="0">
                          <a:latin typeface="Cambria Math" panose="02040503050406030204" pitchFamily="18" charset="0"/>
                        </a:rPr>
                        <m:t>1, 1, 2, 3, 5, 8, 13, 21 , 34… </m:t>
                      </m:r>
                    </m:oMath>
                  </m:oMathPara>
                </a14:m>
                <a:endParaRPr lang="en-US" sz="4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D3C2BF-9336-4966-B075-ED38CBBBC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405743"/>
                <a:ext cx="6894516" cy="7386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3549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53099-4347-46EA-05CC-0B5044231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563AF-7CBB-6FC5-C332-2CE0F9306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Fibonacci numbers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8B1F7E4-60D1-4F07-C7EF-EC150463FDA6}"/>
                  </a:ext>
                </a:extLst>
              </p:cNvPr>
              <p:cNvSpPr txBox="1"/>
              <p:nvPr/>
            </p:nvSpPr>
            <p:spPr>
              <a:xfrm>
                <a:off x="838200" y="2405743"/>
                <a:ext cx="6894516" cy="7386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0" i="1" smtClean="0">
                          <a:latin typeface="Cambria Math" panose="02040503050406030204" pitchFamily="18" charset="0"/>
                        </a:rPr>
                        <m:t>1, 1, 2, 3, 5, 8, 13, 21 , 34… </m:t>
                      </m:r>
                    </m:oMath>
                  </m:oMathPara>
                </a14:m>
                <a:endParaRPr lang="en-US" sz="4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8B1F7E4-60D1-4F07-C7EF-EC150463FD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405743"/>
                <a:ext cx="6894516" cy="7386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26E55EF-888E-75F9-BFD2-23A91B4EAFD3}"/>
                  </a:ext>
                </a:extLst>
              </p:cNvPr>
              <p:cNvSpPr txBox="1"/>
              <p:nvPr/>
            </p:nvSpPr>
            <p:spPr>
              <a:xfrm>
                <a:off x="914400" y="3436595"/>
                <a:ext cx="2770630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𝑓𝑖𝑏𝑜</m:t>
                      </m:r>
                      <m:d>
                        <m:d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26E55EF-888E-75F9-BFD2-23A91B4EAF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3436595"/>
                <a:ext cx="2770630" cy="61555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4E0C3D2-5DE6-00C5-6E8B-895E3F5161F2}"/>
                  </a:ext>
                </a:extLst>
              </p:cNvPr>
              <p:cNvSpPr txBox="1"/>
              <p:nvPr/>
            </p:nvSpPr>
            <p:spPr>
              <a:xfrm>
                <a:off x="914400" y="4052148"/>
                <a:ext cx="2770630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𝑓𝑖𝑏𝑜</m:t>
                      </m:r>
                      <m:d>
                        <m:d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4E0C3D2-5DE6-00C5-6E8B-895E3F5161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4052148"/>
                <a:ext cx="2770630" cy="6155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68D4D49-675B-CBF1-D744-9A8E73D1C16A}"/>
                  </a:ext>
                </a:extLst>
              </p:cNvPr>
              <p:cNvSpPr txBox="1"/>
              <p:nvPr/>
            </p:nvSpPr>
            <p:spPr>
              <a:xfrm>
                <a:off x="838200" y="4975477"/>
                <a:ext cx="8377678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𝑓𝑖𝑏𝑜</m:t>
                      </m:r>
                      <m:d>
                        <m:d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𝑓𝑖𝑏𝑜</m:t>
                      </m:r>
                      <m:d>
                        <m:d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𝑓𝑖𝑏𝑜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−2)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68D4D49-675B-CBF1-D744-9A8E73D1C1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975477"/>
                <a:ext cx="8377678" cy="61555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679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5A66E35-E3C5-6FF7-6009-42DEC545BC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467" y="833095"/>
            <a:ext cx="10905066" cy="5191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7662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3873BE4E-1022-C314-C388-21960D55E4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197" y="643466"/>
            <a:ext cx="10817605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F7D89B-9779-1A9A-BFF8-0350D5536B55}"/>
              </a:ext>
            </a:extLst>
          </p:cNvPr>
          <p:cNvSpPr txBox="1"/>
          <p:nvPr/>
        </p:nvSpPr>
        <p:spPr>
          <a:xfrm>
            <a:off x="283029" y="250371"/>
            <a:ext cx="75939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https://www.artofcse.com/learning/introduction-to-dynamic-programming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23296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69B727-4787-F05F-140C-517C4406C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10969DDB-6075-4D8A-84B3-F5BC765152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197" y="643466"/>
            <a:ext cx="10817605" cy="5571067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BCBF00B2-88FA-9D35-466D-B6C1103AF27D}"/>
              </a:ext>
            </a:extLst>
          </p:cNvPr>
          <p:cNvSpPr/>
          <p:nvPr/>
        </p:nvSpPr>
        <p:spPr>
          <a:xfrm>
            <a:off x="8469086" y="1458686"/>
            <a:ext cx="1554480" cy="146957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AEABB6F-4179-1436-2B93-C6EE50AA7079}"/>
              </a:ext>
            </a:extLst>
          </p:cNvPr>
          <p:cNvSpPr/>
          <p:nvPr/>
        </p:nvSpPr>
        <p:spPr>
          <a:xfrm>
            <a:off x="2168435" y="2852057"/>
            <a:ext cx="1554480" cy="146957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940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C290BF-7D66-2FAF-EA4A-0091CAC5C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diagram&#10;&#10;AI-generated content may be incorrect.">
            <a:extLst>
              <a:ext uri="{FF2B5EF4-FFF2-40B4-BE49-F238E27FC236}">
                <a16:creationId xmlns:a16="http://schemas.microsoft.com/office/drawing/2014/main" id="{17685DB3-69E3-F518-A059-4BA62A35D70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197" y="643466"/>
            <a:ext cx="10817605" cy="5571067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F44D684B-DD0F-27D5-CE2F-B5723DF2A2B8}"/>
              </a:ext>
            </a:extLst>
          </p:cNvPr>
          <p:cNvSpPr/>
          <p:nvPr/>
        </p:nvSpPr>
        <p:spPr>
          <a:xfrm>
            <a:off x="8469086" y="1458686"/>
            <a:ext cx="1554480" cy="146957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4233901-8804-0AD9-01E2-815EE11A9DC9}"/>
              </a:ext>
            </a:extLst>
          </p:cNvPr>
          <p:cNvSpPr/>
          <p:nvPr/>
        </p:nvSpPr>
        <p:spPr>
          <a:xfrm>
            <a:off x="2168435" y="2852057"/>
            <a:ext cx="1554480" cy="1469572"/>
          </a:xfrm>
          <a:prstGeom prst="ellipse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F472F7E-0171-0863-56D5-BD26A64060D9}"/>
              </a:ext>
            </a:extLst>
          </p:cNvPr>
          <p:cNvSpPr/>
          <p:nvPr/>
        </p:nvSpPr>
        <p:spPr>
          <a:xfrm>
            <a:off x="1477152" y="4158344"/>
            <a:ext cx="1209793" cy="1230086"/>
          </a:xfrm>
          <a:prstGeom prst="ellipse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2ED50B6-34FD-14E9-510B-9C7D1177BA86}"/>
              </a:ext>
            </a:extLst>
          </p:cNvPr>
          <p:cNvSpPr/>
          <p:nvPr/>
        </p:nvSpPr>
        <p:spPr>
          <a:xfrm>
            <a:off x="4839400" y="2950028"/>
            <a:ext cx="1209793" cy="1230086"/>
          </a:xfrm>
          <a:prstGeom prst="ellipse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9DF6328-380B-9217-4E5B-DAF732543036}"/>
              </a:ext>
            </a:extLst>
          </p:cNvPr>
          <p:cNvSpPr/>
          <p:nvPr/>
        </p:nvSpPr>
        <p:spPr>
          <a:xfrm>
            <a:off x="7409866" y="2928258"/>
            <a:ext cx="1209793" cy="1230086"/>
          </a:xfrm>
          <a:prstGeom prst="ellipse">
            <a:avLst/>
          </a:prstGeom>
          <a:noFill/>
          <a:ln w="5715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878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4E5E66-1128-95F4-5192-AB0B749E7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3" y="1999615"/>
            <a:ext cx="9144000" cy="27640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D.R.Y. – Don’t Repeat Yourself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7449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ACA2EA0-FFD3-42EC-9406-B595015ED9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5288BCE-665C-472A-8C43-664BCFA31E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8762" y="1247775"/>
            <a:ext cx="9144000" cy="3007447"/>
          </a:xfrm>
          <a:prstGeom prst="rect">
            <a:avLst/>
          </a:prstGeom>
          <a:solidFill>
            <a:schemeClr val="bg1"/>
          </a:solidFill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4F62C5-AFFD-546E-F4F4-57C97F167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4988" y="1442172"/>
            <a:ext cx="8582025" cy="217732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Memoization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6C57131-53A7-4C1A-BEA8-25F06A06AD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7872" y="3912322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AA9F6-19E9-2217-6FA1-AEF4CEC1D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66988" y="3962400"/>
            <a:ext cx="7058025" cy="5810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The solution we need!</a:t>
            </a:r>
          </a:p>
        </p:txBody>
      </p:sp>
    </p:spTree>
    <p:extLst>
      <p:ext uri="{BB962C8B-B14F-4D97-AF65-F5344CB8AC3E}">
        <p14:creationId xmlns:p14="http://schemas.microsoft.com/office/powerpoint/2010/main" val="24014768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58CBE20-3F21-E68B-BFA3-7DECBE0FB3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75848" y="616038"/>
            <a:ext cx="8840303" cy="5625923"/>
          </a:xfrm>
        </p:spPr>
      </p:pic>
    </p:spTree>
    <p:extLst>
      <p:ext uri="{BB962C8B-B14F-4D97-AF65-F5344CB8AC3E}">
        <p14:creationId xmlns:p14="http://schemas.microsoft.com/office/powerpoint/2010/main" val="19316763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D81DFC9-4D03-C11F-3DB9-12ACEC78C3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0691" y="61015"/>
            <a:ext cx="8652709" cy="6735970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57A85B-5FF9-2DE8-A144-CBC544C5E0A6}"/>
              </a:ext>
            </a:extLst>
          </p:cNvPr>
          <p:cNvSpPr txBox="1"/>
          <p:nvPr/>
        </p:nvSpPr>
        <p:spPr>
          <a:xfrm>
            <a:off x="228600" y="609600"/>
            <a:ext cx="10312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F.Y.I.</a:t>
            </a:r>
          </a:p>
        </p:txBody>
      </p:sp>
      <p:pic>
        <p:nvPicPr>
          <p:cNvPr id="3" name="Picture 2" descr="A yellow and purple text on a orange background&#10;&#10;AI-generated content may be incorrect.">
            <a:extLst>
              <a:ext uri="{FF2B5EF4-FFF2-40B4-BE49-F238E27FC236}">
                <a16:creationId xmlns:a16="http://schemas.microsoft.com/office/drawing/2014/main" id="{5A9B5D1C-A585-9D10-16F6-A88C7A6074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669814"/>
            <a:ext cx="2978386" cy="297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994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8FBA8D-BB9F-0747-9EF9-6BD14AB8E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dirty="0">
                <a:solidFill>
                  <a:schemeClr val="bg1">
                    <a:lumMod val="95000"/>
                    <a:lumOff val="5000"/>
                  </a:schemeClr>
                </a:solidFill>
              </a:rPr>
              <a:t>Optimization problems</a:t>
            </a:r>
          </a:p>
        </p:txBody>
      </p:sp>
    </p:spTree>
    <p:extLst>
      <p:ext uri="{BB962C8B-B14F-4D97-AF65-F5344CB8AC3E}">
        <p14:creationId xmlns:p14="http://schemas.microsoft.com/office/powerpoint/2010/main" val="25445931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2948E4-0A60-25C9-2AA2-9A94B98A2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Coin Change problem</a:t>
            </a:r>
          </a:p>
        </p:txBody>
      </p:sp>
      <p:pic>
        <p:nvPicPr>
          <p:cNvPr id="6" name="Graphic 5" descr="Coins">
            <a:extLst>
              <a:ext uri="{FF2B5EF4-FFF2-40B4-BE49-F238E27FC236}">
                <a16:creationId xmlns:a16="http://schemas.microsoft.com/office/drawing/2014/main" id="{6BD86AEA-26B5-158B-E966-6CEE135DD2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8" name="Graphic 7" descr="Coins">
            <a:extLst>
              <a:ext uri="{FF2B5EF4-FFF2-40B4-BE49-F238E27FC236}">
                <a16:creationId xmlns:a16="http://schemas.microsoft.com/office/drawing/2014/main" id="{51C782E5-D17B-4840-869B-5AB1A54E40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4862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9A826B7-5B7F-F2C1-16F7-53B040506C50}"/>
              </a:ext>
            </a:extLst>
          </p:cNvPr>
          <p:cNvSpPr txBox="1"/>
          <p:nvPr/>
        </p:nvSpPr>
        <p:spPr>
          <a:xfrm>
            <a:off x="1175657" y="435429"/>
            <a:ext cx="52332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https://www.youtube.com/watch?v=KnWorqyDSLA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5" descr="A number and equation on a dark background&#10;&#10;AI-generated content may be incorrect.">
            <a:extLst>
              <a:ext uri="{FF2B5EF4-FFF2-40B4-BE49-F238E27FC236}">
                <a16:creationId xmlns:a16="http://schemas.microsoft.com/office/drawing/2014/main" id="{9480E256-7359-151E-C9CD-7711F17BDB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887" y="1381620"/>
            <a:ext cx="10936226" cy="265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8934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9E9F8-2A3C-8195-F6DB-A0CF74A0B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AD2CF8-3BE4-8C03-0370-5DD35F76B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0342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128</Words>
  <Application>Microsoft Office PowerPoint</Application>
  <PresentationFormat>Widescreen</PresentationFormat>
  <Paragraphs>20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Cambria Math</vt:lpstr>
      <vt:lpstr>Office Theme</vt:lpstr>
      <vt:lpstr>1_Office Theme</vt:lpstr>
      <vt:lpstr>Data Structures and Algorithms I.</vt:lpstr>
      <vt:lpstr>Dynamic Programming</vt:lpstr>
      <vt:lpstr>Fibonacci numbers</vt:lpstr>
      <vt:lpstr>Fibonacci numbers</vt:lpstr>
      <vt:lpstr>PowerPoint Presentation</vt:lpstr>
      <vt:lpstr>PowerPoint Presentation</vt:lpstr>
      <vt:lpstr>PowerPoint Presentation</vt:lpstr>
      <vt:lpstr>PowerPoint Presentation</vt:lpstr>
      <vt:lpstr>D.R.Y. – Don’t Repeat Yourself</vt:lpstr>
      <vt:lpstr>Memoization</vt:lpstr>
      <vt:lpstr>PowerPoint Presentation</vt:lpstr>
      <vt:lpstr>PowerPoint Presentation</vt:lpstr>
      <vt:lpstr>Optimization problems</vt:lpstr>
      <vt:lpstr>Coin Change problem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Róbert</dc:creator>
  <cp:lastModifiedBy>Nagy Róbert</cp:lastModifiedBy>
  <cp:revision>4</cp:revision>
  <dcterms:created xsi:type="dcterms:W3CDTF">2025-08-28T18:18:08Z</dcterms:created>
  <dcterms:modified xsi:type="dcterms:W3CDTF">2025-08-28T20:14:12Z</dcterms:modified>
</cp:coreProperties>
</file>