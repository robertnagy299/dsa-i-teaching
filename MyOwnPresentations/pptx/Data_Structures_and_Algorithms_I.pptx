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5" r:id="rId9"/>
    <p:sldId id="263" r:id="rId10"/>
    <p:sldId id="268" r:id="rId11"/>
    <p:sldId id="266" r:id="rId12"/>
    <p:sldId id="267" r:id="rId13"/>
    <p:sldId id="270" r:id="rId14"/>
    <p:sldId id="271" r:id="rId15"/>
    <p:sldId id="272" r:id="rId16"/>
    <p:sldId id="264" r:id="rId17"/>
    <p:sldId id="278" r:id="rId18"/>
    <p:sldId id="277" r:id="rId19"/>
    <p:sldId id="274" r:id="rId20"/>
    <p:sldId id="276" r:id="rId21"/>
    <p:sldId id="279" r:id="rId22"/>
    <p:sldId id="280" r:id="rId23"/>
    <p:sldId id="281" r:id="rId24"/>
    <p:sldId id="283" r:id="rId25"/>
    <p:sldId id="290" r:id="rId26"/>
    <p:sldId id="284" r:id="rId27"/>
    <p:sldId id="285" r:id="rId28"/>
    <p:sldId id="286" r:id="rId29"/>
    <p:sldId id="291" r:id="rId30"/>
    <p:sldId id="288" r:id="rId31"/>
    <p:sldId id="273" r:id="rId32"/>
    <p:sldId id="289" r:id="rId33"/>
    <p:sldId id="292" r:id="rId34"/>
    <p:sldId id="294" r:id="rId35"/>
    <p:sldId id="295" r:id="rId36"/>
    <p:sldId id="293" r:id="rId37"/>
    <p:sldId id="296" r:id="rId38"/>
    <p:sldId id="297" r:id="rId39"/>
    <p:sldId id="298" r:id="rId40"/>
    <p:sldId id="299" r:id="rId41"/>
    <p:sldId id="300" r:id="rId42"/>
    <p:sldId id="302" r:id="rId43"/>
    <p:sldId id="301" r:id="rId44"/>
    <p:sldId id="315" r:id="rId45"/>
    <p:sldId id="282" r:id="rId46"/>
    <p:sldId id="310" r:id="rId47"/>
    <p:sldId id="311" r:id="rId48"/>
    <p:sldId id="312" r:id="rId49"/>
    <p:sldId id="275" r:id="rId50"/>
    <p:sldId id="303" r:id="rId51"/>
    <p:sldId id="304" r:id="rId52"/>
    <p:sldId id="305" r:id="rId53"/>
    <p:sldId id="306" r:id="rId54"/>
    <p:sldId id="307" r:id="rId55"/>
    <p:sldId id="314" r:id="rId56"/>
    <p:sldId id="316" r:id="rId57"/>
    <p:sldId id="313" r:id="rId58"/>
    <p:sldId id="317" r:id="rId59"/>
    <p:sldId id="309" r:id="rId60"/>
    <p:sldId id="308" r:id="rId61"/>
    <p:sldId id="31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8AAF16-8E55-4FBF-A3C1-3A26C1BAAEEE}">
          <p14:sldIdLst>
            <p14:sldId id="256"/>
            <p14:sldId id="257"/>
            <p14:sldId id="258"/>
            <p14:sldId id="261"/>
            <p14:sldId id="260"/>
            <p14:sldId id="259"/>
            <p14:sldId id="262"/>
            <p14:sldId id="265"/>
            <p14:sldId id="263"/>
            <p14:sldId id="268"/>
            <p14:sldId id="266"/>
            <p14:sldId id="267"/>
            <p14:sldId id="270"/>
            <p14:sldId id="271"/>
            <p14:sldId id="272"/>
            <p14:sldId id="264"/>
            <p14:sldId id="278"/>
            <p14:sldId id="277"/>
            <p14:sldId id="274"/>
            <p14:sldId id="276"/>
            <p14:sldId id="279"/>
            <p14:sldId id="280"/>
            <p14:sldId id="281"/>
            <p14:sldId id="283"/>
            <p14:sldId id="290"/>
            <p14:sldId id="284"/>
            <p14:sldId id="285"/>
            <p14:sldId id="286"/>
            <p14:sldId id="291"/>
            <p14:sldId id="288"/>
            <p14:sldId id="273"/>
            <p14:sldId id="289"/>
            <p14:sldId id="292"/>
            <p14:sldId id="294"/>
            <p14:sldId id="295"/>
            <p14:sldId id="293"/>
            <p14:sldId id="296"/>
            <p14:sldId id="297"/>
            <p14:sldId id="298"/>
            <p14:sldId id="299"/>
            <p14:sldId id="300"/>
            <p14:sldId id="302"/>
            <p14:sldId id="301"/>
            <p14:sldId id="315"/>
            <p14:sldId id="282"/>
            <p14:sldId id="310"/>
            <p14:sldId id="311"/>
            <p14:sldId id="312"/>
            <p14:sldId id="275"/>
            <p14:sldId id="303"/>
            <p14:sldId id="304"/>
            <p14:sldId id="305"/>
            <p14:sldId id="306"/>
            <p14:sldId id="307"/>
            <p14:sldId id="314"/>
            <p14:sldId id="316"/>
            <p14:sldId id="313"/>
            <p14:sldId id="317"/>
            <p14:sldId id="309"/>
            <p14:sldId id="308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56" d="100"/>
          <a:sy n="56" d="100"/>
        </p:scale>
        <p:origin x="9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2470AD-8A81-4BD9-8515-1D6EBF9F63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293F2C-B178-4B18-B43E-E9EC5F189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 In-class, 45-minute-long Written Assignments (50 + 50 points)</a:t>
          </a:r>
        </a:p>
      </dgm:t>
    </dgm:pt>
    <dgm:pt modelId="{845CE848-60A7-414F-940E-1A75887E59DC}" type="parTrans" cxnId="{8367AFF9-4444-436D-852E-72E89867F312}">
      <dgm:prSet/>
      <dgm:spPr/>
      <dgm:t>
        <a:bodyPr/>
        <a:lstStyle/>
        <a:p>
          <a:endParaRPr lang="en-US"/>
        </a:p>
      </dgm:t>
    </dgm:pt>
    <dgm:pt modelId="{F8C57548-8720-4D97-834E-66634DAA0E5A}" type="sibTrans" cxnId="{8367AFF9-4444-436D-852E-72E89867F312}">
      <dgm:prSet/>
      <dgm:spPr/>
      <dgm:t>
        <a:bodyPr/>
        <a:lstStyle/>
        <a:p>
          <a:endParaRPr lang="en-US"/>
        </a:p>
      </dgm:t>
    </dgm:pt>
    <dgm:pt modelId="{3CE5D152-012B-4FAF-80FA-15234B759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extra points for class work (up to 10)</a:t>
          </a:r>
        </a:p>
      </dgm:t>
    </dgm:pt>
    <dgm:pt modelId="{F8D901C4-AF95-4202-8E22-4F6DEF961CD2}" type="parTrans" cxnId="{31AE3535-B6C4-42D1-9DDB-0344A99928A4}">
      <dgm:prSet/>
      <dgm:spPr/>
      <dgm:t>
        <a:bodyPr/>
        <a:lstStyle/>
        <a:p>
          <a:endParaRPr lang="en-US"/>
        </a:p>
      </dgm:t>
    </dgm:pt>
    <dgm:pt modelId="{F0EA1E12-2B0E-4E06-93CD-8BF3028C1DD3}" type="sibTrans" cxnId="{31AE3535-B6C4-42D1-9DDB-0344A99928A4}">
      <dgm:prSet/>
      <dgm:spPr/>
      <dgm:t>
        <a:bodyPr/>
        <a:lstStyle/>
        <a:p>
          <a:endParaRPr lang="en-US"/>
        </a:p>
      </dgm:t>
    </dgm:pt>
    <dgm:pt modelId="{6C0544BD-5F4D-4A07-AD7B-2F5F5BBE8FB0}" type="pres">
      <dgm:prSet presAssocID="{B62470AD-8A81-4BD9-8515-1D6EBF9F63E0}" presName="root" presStyleCnt="0">
        <dgm:presLayoutVars>
          <dgm:dir/>
          <dgm:resizeHandles val="exact"/>
        </dgm:presLayoutVars>
      </dgm:prSet>
      <dgm:spPr/>
    </dgm:pt>
    <dgm:pt modelId="{9AFDF5D7-A86F-4374-AFE7-A605572A8A31}" type="pres">
      <dgm:prSet presAssocID="{9F293F2C-B178-4B18-B43E-E9EC5F189748}" presName="compNode" presStyleCnt="0"/>
      <dgm:spPr/>
    </dgm:pt>
    <dgm:pt modelId="{E3BD70BB-ABE0-4E24-B668-C38B2F6FD01D}" type="pres">
      <dgm:prSet presAssocID="{9F293F2C-B178-4B18-B43E-E9EC5F1897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1AEFFA7-BFE8-4CDD-B47D-E61B2C62C758}" type="pres">
      <dgm:prSet presAssocID="{9F293F2C-B178-4B18-B43E-E9EC5F189748}" presName="spaceRect" presStyleCnt="0"/>
      <dgm:spPr/>
    </dgm:pt>
    <dgm:pt modelId="{5B3C6A47-6F27-4989-8CF0-C31A34BDD9D6}" type="pres">
      <dgm:prSet presAssocID="{9F293F2C-B178-4B18-B43E-E9EC5F189748}" presName="textRect" presStyleLbl="revTx" presStyleIdx="0" presStyleCnt="2">
        <dgm:presLayoutVars>
          <dgm:chMax val="1"/>
          <dgm:chPref val="1"/>
        </dgm:presLayoutVars>
      </dgm:prSet>
      <dgm:spPr/>
    </dgm:pt>
    <dgm:pt modelId="{04A25409-34AE-47DE-B87F-0214AD4FCB1E}" type="pres">
      <dgm:prSet presAssocID="{F8C57548-8720-4D97-834E-66634DAA0E5A}" presName="sibTrans" presStyleCnt="0"/>
      <dgm:spPr/>
    </dgm:pt>
    <dgm:pt modelId="{8F1CBED7-9B8C-401C-8115-592EF0950F97}" type="pres">
      <dgm:prSet presAssocID="{3CE5D152-012B-4FAF-80FA-15234B759889}" presName="compNode" presStyleCnt="0"/>
      <dgm:spPr/>
    </dgm:pt>
    <dgm:pt modelId="{4D779529-2498-437E-83D9-A4B7532CCD3D}" type="pres">
      <dgm:prSet presAssocID="{3CE5D152-012B-4FAF-80FA-15234B7598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864FF6A-EE14-47DF-929C-CE3CDD1E9BB4}" type="pres">
      <dgm:prSet presAssocID="{3CE5D152-012B-4FAF-80FA-15234B759889}" presName="spaceRect" presStyleCnt="0"/>
      <dgm:spPr/>
    </dgm:pt>
    <dgm:pt modelId="{4870A82C-7255-4256-BE38-27FC799814CA}" type="pres">
      <dgm:prSet presAssocID="{3CE5D152-012B-4FAF-80FA-15234B75988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3AD9A19-36EF-4028-8919-5EC49A62386F}" type="presOf" srcId="{B62470AD-8A81-4BD9-8515-1D6EBF9F63E0}" destId="{6C0544BD-5F4D-4A07-AD7B-2F5F5BBE8FB0}" srcOrd="0" destOrd="0" presId="urn:microsoft.com/office/officeart/2018/2/layout/IconLabelList"/>
    <dgm:cxn modelId="{31AE3535-B6C4-42D1-9DDB-0344A99928A4}" srcId="{B62470AD-8A81-4BD9-8515-1D6EBF9F63E0}" destId="{3CE5D152-012B-4FAF-80FA-15234B759889}" srcOrd="1" destOrd="0" parTransId="{F8D901C4-AF95-4202-8E22-4F6DEF961CD2}" sibTransId="{F0EA1E12-2B0E-4E06-93CD-8BF3028C1DD3}"/>
    <dgm:cxn modelId="{586440E7-BC30-4606-B7A3-CCE7375C9506}" type="presOf" srcId="{3CE5D152-012B-4FAF-80FA-15234B759889}" destId="{4870A82C-7255-4256-BE38-27FC799814CA}" srcOrd="0" destOrd="0" presId="urn:microsoft.com/office/officeart/2018/2/layout/IconLabelList"/>
    <dgm:cxn modelId="{13DAD4E8-D4E8-49FE-B53C-DA37D7E78BFB}" type="presOf" srcId="{9F293F2C-B178-4B18-B43E-E9EC5F189748}" destId="{5B3C6A47-6F27-4989-8CF0-C31A34BDD9D6}" srcOrd="0" destOrd="0" presId="urn:microsoft.com/office/officeart/2018/2/layout/IconLabelList"/>
    <dgm:cxn modelId="{8367AFF9-4444-436D-852E-72E89867F312}" srcId="{B62470AD-8A81-4BD9-8515-1D6EBF9F63E0}" destId="{9F293F2C-B178-4B18-B43E-E9EC5F189748}" srcOrd="0" destOrd="0" parTransId="{845CE848-60A7-414F-940E-1A75887E59DC}" sibTransId="{F8C57548-8720-4D97-834E-66634DAA0E5A}"/>
    <dgm:cxn modelId="{A89CE3A8-DEC5-4A69-A9FA-13DB2AE88BCC}" type="presParOf" srcId="{6C0544BD-5F4D-4A07-AD7B-2F5F5BBE8FB0}" destId="{9AFDF5D7-A86F-4374-AFE7-A605572A8A31}" srcOrd="0" destOrd="0" presId="urn:microsoft.com/office/officeart/2018/2/layout/IconLabelList"/>
    <dgm:cxn modelId="{9C39A071-B50C-4DC4-AAB4-25C92ADE85A6}" type="presParOf" srcId="{9AFDF5D7-A86F-4374-AFE7-A605572A8A31}" destId="{E3BD70BB-ABE0-4E24-B668-C38B2F6FD01D}" srcOrd="0" destOrd="0" presId="urn:microsoft.com/office/officeart/2018/2/layout/IconLabelList"/>
    <dgm:cxn modelId="{EC187FBC-1CC2-415D-B8EE-951892AB8CFA}" type="presParOf" srcId="{9AFDF5D7-A86F-4374-AFE7-A605572A8A31}" destId="{F1AEFFA7-BFE8-4CDD-B47D-E61B2C62C758}" srcOrd="1" destOrd="0" presId="urn:microsoft.com/office/officeart/2018/2/layout/IconLabelList"/>
    <dgm:cxn modelId="{541F5E6C-4A50-4B05-B223-BAA28D30523A}" type="presParOf" srcId="{9AFDF5D7-A86F-4374-AFE7-A605572A8A31}" destId="{5B3C6A47-6F27-4989-8CF0-C31A34BDD9D6}" srcOrd="2" destOrd="0" presId="urn:microsoft.com/office/officeart/2018/2/layout/IconLabelList"/>
    <dgm:cxn modelId="{D5E5843D-8B9F-429B-9FE5-0E270FDE35A1}" type="presParOf" srcId="{6C0544BD-5F4D-4A07-AD7B-2F5F5BBE8FB0}" destId="{04A25409-34AE-47DE-B87F-0214AD4FCB1E}" srcOrd="1" destOrd="0" presId="urn:microsoft.com/office/officeart/2018/2/layout/IconLabelList"/>
    <dgm:cxn modelId="{92901FCB-153B-428F-921E-9D95A33D3FDF}" type="presParOf" srcId="{6C0544BD-5F4D-4A07-AD7B-2F5F5BBE8FB0}" destId="{8F1CBED7-9B8C-401C-8115-592EF0950F97}" srcOrd="2" destOrd="0" presId="urn:microsoft.com/office/officeart/2018/2/layout/IconLabelList"/>
    <dgm:cxn modelId="{B7E97694-1215-4771-B511-2692310EE91E}" type="presParOf" srcId="{8F1CBED7-9B8C-401C-8115-592EF0950F97}" destId="{4D779529-2498-437E-83D9-A4B7532CCD3D}" srcOrd="0" destOrd="0" presId="urn:microsoft.com/office/officeart/2018/2/layout/IconLabelList"/>
    <dgm:cxn modelId="{B6E5B1F1-A092-4474-8C26-AAE0229A4132}" type="presParOf" srcId="{8F1CBED7-9B8C-401C-8115-592EF0950F97}" destId="{6864FF6A-EE14-47DF-929C-CE3CDD1E9BB4}" srcOrd="1" destOrd="0" presId="urn:microsoft.com/office/officeart/2018/2/layout/IconLabelList"/>
    <dgm:cxn modelId="{9C2FD473-3D9B-4321-B0C0-16FB928483FE}" type="presParOf" srcId="{8F1CBED7-9B8C-401C-8115-592EF0950F97}" destId="{4870A82C-7255-4256-BE38-27FC799814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11530E-2D3F-4739-8634-5E23AC30147A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CA544E-F0B5-4ACC-9437-1EE65A22D286}">
      <dgm:prSet/>
      <dgm:spPr/>
      <dgm:t>
        <a:bodyPr/>
        <a:lstStyle/>
        <a:p>
          <a:r>
            <a:rPr lang="en-US"/>
            <a:t>15 points per W.A.</a:t>
          </a:r>
        </a:p>
      </dgm:t>
    </dgm:pt>
    <dgm:pt modelId="{F416B136-7C51-4AC2-9825-0A33DFFC5964}" type="parTrans" cxnId="{8D6D3A67-1B13-4827-B298-84868D0D53F9}">
      <dgm:prSet/>
      <dgm:spPr/>
      <dgm:t>
        <a:bodyPr/>
        <a:lstStyle/>
        <a:p>
          <a:endParaRPr lang="en-US"/>
        </a:p>
      </dgm:t>
    </dgm:pt>
    <dgm:pt modelId="{E646BE1E-8287-415B-BC0D-01AD6D6D11C4}" type="sibTrans" cxnId="{8D6D3A67-1B13-4827-B298-84868D0D53F9}">
      <dgm:prSet/>
      <dgm:spPr/>
      <dgm:t>
        <a:bodyPr/>
        <a:lstStyle/>
        <a:p>
          <a:endParaRPr lang="en-US"/>
        </a:p>
      </dgm:t>
    </dgm:pt>
    <dgm:pt modelId="{B591A980-D534-48C1-902B-7C345F926F73}">
      <dgm:prSet/>
      <dgm:spPr/>
      <dgm:t>
        <a:bodyPr/>
        <a:lstStyle/>
        <a:p>
          <a:r>
            <a:rPr lang="en-US"/>
            <a:t>50/100 in total</a:t>
          </a:r>
        </a:p>
      </dgm:t>
    </dgm:pt>
    <dgm:pt modelId="{15AD427A-37D3-4990-9F9D-C12BCAAB0169}" type="parTrans" cxnId="{421083B0-1FA2-475F-ABA4-A945A78FEBA9}">
      <dgm:prSet/>
      <dgm:spPr/>
      <dgm:t>
        <a:bodyPr/>
        <a:lstStyle/>
        <a:p>
          <a:endParaRPr lang="en-US"/>
        </a:p>
      </dgm:t>
    </dgm:pt>
    <dgm:pt modelId="{CCC0DFD5-9FDD-4553-89AF-5AC97CD3D75C}" type="sibTrans" cxnId="{421083B0-1FA2-475F-ABA4-A945A78FEBA9}">
      <dgm:prSet/>
      <dgm:spPr/>
      <dgm:t>
        <a:bodyPr/>
        <a:lstStyle/>
        <a:p>
          <a:endParaRPr lang="en-US"/>
        </a:p>
      </dgm:t>
    </dgm:pt>
    <dgm:pt modelId="{8D899B35-32E5-4467-A9AB-03AED949B676}" type="pres">
      <dgm:prSet presAssocID="{6911530E-2D3F-4739-8634-5E23AC30147A}" presName="diagram" presStyleCnt="0">
        <dgm:presLayoutVars>
          <dgm:dir/>
          <dgm:resizeHandles val="exact"/>
        </dgm:presLayoutVars>
      </dgm:prSet>
      <dgm:spPr/>
    </dgm:pt>
    <dgm:pt modelId="{B3534C69-3F50-4861-BF2F-85996FF9D1CC}" type="pres">
      <dgm:prSet presAssocID="{81CA544E-F0B5-4ACC-9437-1EE65A22D286}" presName="node" presStyleLbl="node1" presStyleIdx="0" presStyleCnt="2">
        <dgm:presLayoutVars>
          <dgm:bulletEnabled val="1"/>
        </dgm:presLayoutVars>
      </dgm:prSet>
      <dgm:spPr/>
    </dgm:pt>
    <dgm:pt modelId="{1B7E1C95-729A-44EC-9947-16A85B2499D1}" type="pres">
      <dgm:prSet presAssocID="{E646BE1E-8287-415B-BC0D-01AD6D6D11C4}" presName="sibTrans" presStyleCnt="0"/>
      <dgm:spPr/>
    </dgm:pt>
    <dgm:pt modelId="{B097DE50-0DB9-4E76-9F6D-381F8C7E111A}" type="pres">
      <dgm:prSet presAssocID="{B591A980-D534-48C1-902B-7C345F926F73}" presName="node" presStyleLbl="node1" presStyleIdx="1" presStyleCnt="2">
        <dgm:presLayoutVars>
          <dgm:bulletEnabled val="1"/>
        </dgm:presLayoutVars>
      </dgm:prSet>
      <dgm:spPr/>
    </dgm:pt>
  </dgm:ptLst>
  <dgm:cxnLst>
    <dgm:cxn modelId="{598AFF1E-F819-4358-B089-5A09A7EF4ED7}" type="presOf" srcId="{6911530E-2D3F-4739-8634-5E23AC30147A}" destId="{8D899B35-32E5-4467-A9AB-03AED949B676}" srcOrd="0" destOrd="0" presId="urn:microsoft.com/office/officeart/2005/8/layout/default"/>
    <dgm:cxn modelId="{C3985939-1A5F-4125-8A90-C41FFCD12272}" type="presOf" srcId="{B591A980-D534-48C1-902B-7C345F926F73}" destId="{B097DE50-0DB9-4E76-9F6D-381F8C7E111A}" srcOrd="0" destOrd="0" presId="urn:microsoft.com/office/officeart/2005/8/layout/default"/>
    <dgm:cxn modelId="{8D6D3A67-1B13-4827-B298-84868D0D53F9}" srcId="{6911530E-2D3F-4739-8634-5E23AC30147A}" destId="{81CA544E-F0B5-4ACC-9437-1EE65A22D286}" srcOrd="0" destOrd="0" parTransId="{F416B136-7C51-4AC2-9825-0A33DFFC5964}" sibTransId="{E646BE1E-8287-415B-BC0D-01AD6D6D11C4}"/>
    <dgm:cxn modelId="{421083B0-1FA2-475F-ABA4-A945A78FEBA9}" srcId="{6911530E-2D3F-4739-8634-5E23AC30147A}" destId="{B591A980-D534-48C1-902B-7C345F926F73}" srcOrd="1" destOrd="0" parTransId="{15AD427A-37D3-4990-9F9D-C12BCAAB0169}" sibTransId="{CCC0DFD5-9FDD-4553-89AF-5AC97CD3D75C}"/>
    <dgm:cxn modelId="{B82722B6-B71C-4B5A-9D53-141D9E9DB66F}" type="presOf" srcId="{81CA544E-F0B5-4ACC-9437-1EE65A22D286}" destId="{B3534C69-3F50-4861-BF2F-85996FF9D1CC}" srcOrd="0" destOrd="0" presId="urn:microsoft.com/office/officeart/2005/8/layout/default"/>
    <dgm:cxn modelId="{FBE5EF25-3F51-496F-B949-021777431AB7}" type="presParOf" srcId="{8D899B35-32E5-4467-A9AB-03AED949B676}" destId="{B3534C69-3F50-4861-BF2F-85996FF9D1CC}" srcOrd="0" destOrd="0" presId="urn:microsoft.com/office/officeart/2005/8/layout/default"/>
    <dgm:cxn modelId="{5AB1AB36-8CC2-4515-88B8-6EB9C45FB60D}" type="presParOf" srcId="{8D899B35-32E5-4467-A9AB-03AED949B676}" destId="{1B7E1C95-729A-44EC-9947-16A85B2499D1}" srcOrd="1" destOrd="0" presId="urn:microsoft.com/office/officeart/2005/8/layout/default"/>
    <dgm:cxn modelId="{34B99B2D-71D7-4462-80CC-5D27AFEAE6C7}" type="presParOf" srcId="{8D899B35-32E5-4467-A9AB-03AED949B676}" destId="{B097DE50-0DB9-4E76-9F6D-381F8C7E111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FB1B8A-3669-4248-83B1-D82BE9D688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5EA702-8DBA-44DA-B616-B88FCC0AE6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Arithmetic (+, -, *, /, %...)</a:t>
          </a:r>
        </a:p>
      </dgm:t>
    </dgm:pt>
    <dgm:pt modelId="{615DF25D-84A9-49DC-8BAA-5BB625766A5E}" type="parTrans" cxnId="{AEF6BBAB-E4AF-4CC1-9505-B10F4FD9E2AF}">
      <dgm:prSet/>
      <dgm:spPr/>
      <dgm:t>
        <a:bodyPr/>
        <a:lstStyle/>
        <a:p>
          <a:endParaRPr lang="en-US"/>
        </a:p>
      </dgm:t>
    </dgm:pt>
    <dgm:pt modelId="{C8E69617-D5E9-41EC-A5E9-787F24F4BD68}" type="sibTrans" cxnId="{AEF6BBAB-E4AF-4CC1-9505-B10F4FD9E2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9834A8-127B-4C7E-BB86-B066FA4D7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movement (Load, Store…)</a:t>
          </a:r>
        </a:p>
      </dgm:t>
    </dgm:pt>
    <dgm:pt modelId="{58114E32-5AF6-4970-B0D1-ACEA081CAA1C}" type="parTrans" cxnId="{B66F04B5-EBCF-40AA-BD8E-6A75A094F515}">
      <dgm:prSet/>
      <dgm:spPr/>
      <dgm:t>
        <a:bodyPr/>
        <a:lstStyle/>
        <a:p>
          <a:endParaRPr lang="en-US"/>
        </a:p>
      </dgm:t>
    </dgm:pt>
    <dgm:pt modelId="{DF0279FD-2C41-4CC6-980C-95ED6A5FEE6A}" type="sibTrans" cxnId="{B66F04B5-EBCF-40AA-BD8E-6A75A094F5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99760F-258A-46B6-9978-C2ED48B39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Control (Method call, conditional jump, etc…)</a:t>
          </a:r>
        </a:p>
      </dgm:t>
    </dgm:pt>
    <dgm:pt modelId="{A2923386-5F2A-4AC6-BE84-2F89334BE7C3}" type="parTrans" cxnId="{238FE6E3-553D-4927-844C-DAE0040046FB}">
      <dgm:prSet/>
      <dgm:spPr/>
      <dgm:t>
        <a:bodyPr/>
        <a:lstStyle/>
        <a:p>
          <a:endParaRPr lang="en-US"/>
        </a:p>
      </dgm:t>
    </dgm:pt>
    <dgm:pt modelId="{42C90D56-F9C7-47F0-AD43-A86DE9F22813}" type="sibTrans" cxnId="{238FE6E3-553D-4927-844C-DAE0040046FB}">
      <dgm:prSet/>
      <dgm:spPr/>
      <dgm:t>
        <a:bodyPr/>
        <a:lstStyle/>
        <a:p>
          <a:endParaRPr lang="en-US"/>
        </a:p>
      </dgm:t>
    </dgm:pt>
    <dgm:pt modelId="{5044130D-2B81-4AC9-B75C-65ABB4544153}" type="pres">
      <dgm:prSet presAssocID="{E1FB1B8A-3669-4248-83B1-D82BE9D68865}" presName="linear" presStyleCnt="0">
        <dgm:presLayoutVars>
          <dgm:animLvl val="lvl"/>
          <dgm:resizeHandles val="exact"/>
        </dgm:presLayoutVars>
      </dgm:prSet>
      <dgm:spPr/>
    </dgm:pt>
    <dgm:pt modelId="{01996A8B-2D67-4C00-970C-27C148C2C2E4}" type="pres">
      <dgm:prSet presAssocID="{225EA702-8DBA-44DA-B616-B88FCC0AE6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759C540-76BF-40C9-8258-0A29558B8A84}" type="pres">
      <dgm:prSet presAssocID="{C8E69617-D5E9-41EC-A5E9-787F24F4BD68}" presName="spacer" presStyleCnt="0"/>
      <dgm:spPr/>
    </dgm:pt>
    <dgm:pt modelId="{B28341BA-86C3-4C9A-BDA8-5FE4A2B14549}" type="pres">
      <dgm:prSet presAssocID="{149834A8-127B-4C7E-BB86-B066FA4D7E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8E433D-39B3-4908-9E4D-1D9FAB66649E}" type="pres">
      <dgm:prSet presAssocID="{DF0279FD-2C41-4CC6-980C-95ED6A5FEE6A}" presName="spacer" presStyleCnt="0"/>
      <dgm:spPr/>
    </dgm:pt>
    <dgm:pt modelId="{A197E58D-5FDA-412F-93E7-C39699F2731F}" type="pres">
      <dgm:prSet presAssocID="{0099760F-258A-46B6-9978-C2ED48B398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9B6F57-D6EB-4473-8602-69C590671871}" type="presOf" srcId="{0099760F-258A-46B6-9978-C2ED48B398D9}" destId="{A197E58D-5FDA-412F-93E7-C39699F2731F}" srcOrd="0" destOrd="0" presId="urn:microsoft.com/office/officeart/2005/8/layout/vList2"/>
    <dgm:cxn modelId="{4651229E-B853-49C5-892B-AB277310145A}" type="presOf" srcId="{149834A8-127B-4C7E-BB86-B066FA4D7EC7}" destId="{B28341BA-86C3-4C9A-BDA8-5FE4A2B14549}" srcOrd="0" destOrd="0" presId="urn:microsoft.com/office/officeart/2005/8/layout/vList2"/>
    <dgm:cxn modelId="{8AA0ADAA-0EB8-48B9-B8BA-71C60C4A66A1}" type="presOf" srcId="{E1FB1B8A-3669-4248-83B1-D82BE9D68865}" destId="{5044130D-2B81-4AC9-B75C-65ABB4544153}" srcOrd="0" destOrd="0" presId="urn:microsoft.com/office/officeart/2005/8/layout/vList2"/>
    <dgm:cxn modelId="{AEF6BBAB-E4AF-4CC1-9505-B10F4FD9E2AF}" srcId="{E1FB1B8A-3669-4248-83B1-D82BE9D68865}" destId="{225EA702-8DBA-44DA-B616-B88FCC0AE642}" srcOrd="0" destOrd="0" parTransId="{615DF25D-84A9-49DC-8BAA-5BB625766A5E}" sibTransId="{C8E69617-D5E9-41EC-A5E9-787F24F4BD68}"/>
    <dgm:cxn modelId="{2B5361B3-A24B-4CC4-90D2-656AB4D485D9}" type="presOf" srcId="{225EA702-8DBA-44DA-B616-B88FCC0AE642}" destId="{01996A8B-2D67-4C00-970C-27C148C2C2E4}" srcOrd="0" destOrd="0" presId="urn:microsoft.com/office/officeart/2005/8/layout/vList2"/>
    <dgm:cxn modelId="{B66F04B5-EBCF-40AA-BD8E-6A75A094F515}" srcId="{E1FB1B8A-3669-4248-83B1-D82BE9D68865}" destId="{149834A8-127B-4C7E-BB86-B066FA4D7EC7}" srcOrd="1" destOrd="0" parTransId="{58114E32-5AF6-4970-B0D1-ACEA081CAA1C}" sibTransId="{DF0279FD-2C41-4CC6-980C-95ED6A5FEE6A}"/>
    <dgm:cxn modelId="{238FE6E3-553D-4927-844C-DAE0040046FB}" srcId="{E1FB1B8A-3669-4248-83B1-D82BE9D68865}" destId="{0099760F-258A-46B6-9978-C2ED48B398D9}" srcOrd="2" destOrd="0" parTransId="{A2923386-5F2A-4AC6-BE84-2F89334BE7C3}" sibTransId="{42C90D56-F9C7-47F0-AD43-A86DE9F22813}"/>
    <dgm:cxn modelId="{01158BF1-DD4E-49DA-B6D1-3AD79E14F23A}" type="presParOf" srcId="{5044130D-2B81-4AC9-B75C-65ABB4544153}" destId="{01996A8B-2D67-4C00-970C-27C148C2C2E4}" srcOrd="0" destOrd="0" presId="urn:microsoft.com/office/officeart/2005/8/layout/vList2"/>
    <dgm:cxn modelId="{86F7301C-2FF7-4482-BA12-B51AC9C3997B}" type="presParOf" srcId="{5044130D-2B81-4AC9-B75C-65ABB4544153}" destId="{2759C540-76BF-40C9-8258-0A29558B8A84}" srcOrd="1" destOrd="0" presId="urn:microsoft.com/office/officeart/2005/8/layout/vList2"/>
    <dgm:cxn modelId="{E30CC526-55FB-4F19-A669-4D0C50700828}" type="presParOf" srcId="{5044130D-2B81-4AC9-B75C-65ABB4544153}" destId="{B28341BA-86C3-4C9A-BDA8-5FE4A2B14549}" srcOrd="2" destOrd="0" presId="urn:microsoft.com/office/officeart/2005/8/layout/vList2"/>
    <dgm:cxn modelId="{A84775B3-FA43-48BD-946A-31BD810F2CA6}" type="presParOf" srcId="{5044130D-2B81-4AC9-B75C-65ABB4544153}" destId="{F78E433D-39B3-4908-9E4D-1D9FAB66649E}" srcOrd="3" destOrd="0" presId="urn:microsoft.com/office/officeart/2005/8/layout/vList2"/>
    <dgm:cxn modelId="{CFC242E4-088B-4DAD-93B0-40D166154C5A}" type="presParOf" srcId="{5044130D-2B81-4AC9-B75C-65ABB4544153}" destId="{A197E58D-5FDA-412F-93E7-C39699F273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Worst case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Average case</a:t>
          </a:r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Best case</a:t>
          </a:r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Upper bound - O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Lower bound - </a:t>
          </a:r>
          <a:r>
            <a:rPr lang="el-GR" dirty="0"/>
            <a:t>Ω</a:t>
          </a:r>
          <a:endParaRPr lang="en-US" dirty="0"/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Tight bound - </a:t>
          </a:r>
          <a:r>
            <a:rPr lang="el-GR" dirty="0"/>
            <a:t>Θ</a:t>
          </a:r>
          <a:endParaRPr lang="en-US" dirty="0"/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D70BB-ABE0-4E24-B668-C38B2F6FD01D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C6A47-6F27-4989-8CF0-C31A34BDD9D6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 In-class, 45-minute-long Written Assignments (50 + 50 points)</a:t>
          </a:r>
        </a:p>
      </dsp:txBody>
      <dsp:txXfrm>
        <a:off x="765914" y="2943510"/>
        <a:ext cx="4320000" cy="720000"/>
      </dsp:txXfrm>
    </dsp:sp>
    <dsp:sp modelId="{4D779529-2498-437E-83D9-A4B7532CCD3D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0A82C-7255-4256-BE38-27FC799814CA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Potential extra points for class work (up to 10)</a:t>
          </a:r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34C69-3F50-4861-BF2F-85996FF9D1C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15 points per W.A.</a:t>
          </a:r>
        </a:p>
      </dsp:txBody>
      <dsp:txXfrm>
        <a:off x="1283" y="673807"/>
        <a:ext cx="5006206" cy="3003723"/>
      </dsp:txXfrm>
    </dsp:sp>
    <dsp:sp modelId="{B097DE50-0DB9-4E76-9F6D-381F8C7E111A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50/100 in total</a:t>
          </a:r>
        </a:p>
      </dsp:txBody>
      <dsp:txXfrm>
        <a:off x="5508110" y="673807"/>
        <a:ext cx="5006206" cy="3003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96A8B-2D67-4C00-970C-27C148C2C2E4}">
      <dsp:nvSpPr>
        <dsp:cNvPr id="0" name=""/>
        <dsp:cNvSpPr/>
      </dsp:nvSpPr>
      <dsp:spPr>
        <a:xfrm>
          <a:off x="0" y="516068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Arithmetic (+, -, *, /, %...)</a:t>
          </a:r>
        </a:p>
      </dsp:txBody>
      <dsp:txXfrm>
        <a:off x="50261" y="566329"/>
        <a:ext cx="10415078" cy="929078"/>
      </dsp:txXfrm>
    </dsp:sp>
    <dsp:sp modelId="{B28341BA-86C3-4C9A-BDA8-5FE4A2B14549}">
      <dsp:nvSpPr>
        <dsp:cNvPr id="0" name=""/>
        <dsp:cNvSpPr/>
      </dsp:nvSpPr>
      <dsp:spPr>
        <a:xfrm>
          <a:off x="0" y="16608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movement (Load, Store…)</a:t>
          </a:r>
        </a:p>
      </dsp:txBody>
      <dsp:txXfrm>
        <a:off x="50261" y="1711130"/>
        <a:ext cx="10415078" cy="929078"/>
      </dsp:txXfrm>
    </dsp:sp>
    <dsp:sp modelId="{A197E58D-5FDA-412F-93E7-C39699F2731F}">
      <dsp:nvSpPr>
        <dsp:cNvPr id="0" name=""/>
        <dsp:cNvSpPr/>
      </dsp:nvSpPr>
      <dsp:spPr>
        <a:xfrm>
          <a:off x="0" y="28056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Control (Method call, conditional jump, etc…)</a:t>
          </a:r>
        </a:p>
      </dsp:txBody>
      <dsp:txXfrm>
        <a:off x="50261" y="2855930"/>
        <a:ext cx="10415078" cy="929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Worst case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Average case</a:t>
          </a:r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Best case</a:t>
          </a:r>
        </a:p>
      </dsp:txBody>
      <dsp:txXfrm>
        <a:off x="77962" y="3790647"/>
        <a:ext cx="6510909" cy="1441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Upper bound - O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Lower bound - </a:t>
          </a:r>
          <a:r>
            <a:rPr lang="el-GR" sz="6500" kern="1200" dirty="0"/>
            <a:t>Ω</a:t>
          </a:r>
          <a:endParaRPr lang="en-US" sz="6500" kern="1200" dirty="0"/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Tight bound - </a:t>
          </a:r>
          <a:r>
            <a:rPr lang="el-GR" sz="6500" kern="1200" dirty="0"/>
            <a:t>Θ</a:t>
          </a:r>
          <a:endParaRPr lang="en-US" sz="6500" kern="1200" dirty="0"/>
        </a:p>
      </dsp:txBody>
      <dsp:txXfrm>
        <a:off x="77962" y="3790647"/>
        <a:ext cx="6510909" cy="144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3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5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1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6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2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9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7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www.youtube.com/watch?v=Q1JdRUh1_98" TargetMode="Externa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efinitions/differentiation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computing.net/big-o-notation-quiz/" TargetMode="External"/><Relationship Id="rId2" Type="http://schemas.openxmlformats.org/officeDocument/2006/relationships/hyperlink" Target="https://read.learnyard.com/dsa/quiz-time-complexit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/>
              <a:t>Data Structures and Algorithms I.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hu-HU" dirty="0"/>
              <a:t>University of </a:t>
            </a:r>
            <a:r>
              <a:rPr lang="en-US" dirty="0"/>
              <a:t>Szeged – Robert Nagy</a:t>
            </a:r>
          </a:p>
          <a:p>
            <a:r>
              <a:rPr lang="en-US" dirty="0"/>
              <a:t>2025/26. Spring Semester</a:t>
            </a:r>
          </a:p>
          <a:p>
            <a:endParaRPr lang="hu-HU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DD35B-3CEC-D38C-AC95-8D858EB9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the course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E4C31-71CB-2BFC-5AAD-A788EF21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DC9AB-4FFC-33B3-89EE-44879379B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0618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55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A1B28D-B63C-5AA6-FA48-FDEA6020FE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B1BFD-27F2-E93C-F2BB-A270B456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Required Minimum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5CD854-528B-E09E-8414-D137910B6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959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10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38593-5941-05C9-05D6-DD074F4E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Attendance </a:t>
            </a:r>
            <a:r>
              <a:rPr lang="en-US" sz="4000" dirty="0">
                <a:solidFill>
                  <a:schemeClr val="tx2"/>
                </a:solidFill>
              </a:rPr>
              <a:t>IS </a:t>
            </a: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mandatory!</a:t>
            </a:r>
          </a:p>
        </p:txBody>
      </p:sp>
      <p:pic>
        <p:nvPicPr>
          <p:cNvPr id="7" name="Graphic 6" descr="Clock">
            <a:extLst>
              <a:ext uri="{FF2B5EF4-FFF2-40B4-BE49-F238E27FC236}">
                <a16:creationId xmlns:a16="http://schemas.microsoft.com/office/drawing/2014/main" id="{7B13D5F1-CF58-270D-C0DF-F9A35E45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049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52747-1191-50B3-4697-81B90C3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About the teacher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B577-3345-BC1F-4228-92C4D06A6A2D}"/>
              </a:ext>
            </a:extLst>
          </p:cNvPr>
          <p:cNvSpPr txBox="1"/>
          <p:nvPr/>
        </p:nvSpPr>
        <p:spPr>
          <a:xfrm>
            <a:off x="640081" y="2872899"/>
            <a:ext cx="371474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3rd year student (Undergraduate)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Software Developer Intern (1 year of experience as of February 2026)</a:t>
            </a:r>
          </a:p>
        </p:txBody>
      </p:sp>
      <p:pic>
        <p:nvPicPr>
          <p:cNvPr id="5" name="Content Placeholder 4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0AA615D4-898C-D573-30ED-B04E9C20C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384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75C61-7332-2555-BC12-C1CB077B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8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 don’t know everything!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A59A-D7CF-984A-1AEA-39929ACC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…But maybe I can teach you something</a:t>
            </a:r>
            <a:r>
              <a:rPr lang="en-US" sz="2000" dirty="0"/>
              <a:t> new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502F1644-4E52-A18C-07C3-CA373833B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9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8203A-C376-1AA6-B7BD-424B6F44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3687-A09C-E6E9-D64E-7B4144BF4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 real world problems with computers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0C1C3FA-26A6-EA9B-9616-089D91EA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4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D631-2816-96DB-F676-79CEF74D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 dirty="0">
                <a:latin typeface="+mj-lt"/>
                <a:ea typeface="+mj-ea"/>
                <a:cs typeface="+mj-cs"/>
              </a:rPr>
              <a:t>Foundations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EA31-C4EA-C884-3CED-56058C76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latin typeface="+mn-lt"/>
                <a:ea typeface="+mn-ea"/>
                <a:cs typeface="+mn-cs"/>
              </a:rPr>
              <a:t>What is an algorithm?</a:t>
            </a:r>
          </a:p>
        </p:txBody>
      </p:sp>
    </p:spTree>
    <p:extLst>
      <p:ext uri="{BB962C8B-B14F-4D97-AF65-F5344CB8AC3E}">
        <p14:creationId xmlns:p14="http://schemas.microsoft.com/office/powerpoint/2010/main" val="335133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42415-F073-A8D3-FB5D-8B8FBE4F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Cost of computation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2543-4A69-7EC6-D548-95F21A34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Time?</a:t>
            </a:r>
          </a:p>
          <a:p>
            <a:r>
              <a:rPr lang="en-US" sz="2400"/>
              <a:t>Space?</a:t>
            </a:r>
          </a:p>
        </p:txBody>
      </p:sp>
    </p:spTree>
    <p:extLst>
      <p:ext uri="{BB962C8B-B14F-4D97-AF65-F5344CB8AC3E}">
        <p14:creationId xmlns:p14="http://schemas.microsoft.com/office/powerpoint/2010/main" val="278230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D9366-030F-65A4-8664-77A5EDB8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Model of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38597-752F-C308-3C0C-47AA190C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RAM Model (Random Access Machine)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826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oard with blue and orange text&#10;&#10;AI-generated content may be incorrect.">
            <a:extLst>
              <a:ext uri="{FF2B5EF4-FFF2-40B4-BE49-F238E27FC236}">
                <a16:creationId xmlns:a16="http://schemas.microsoft.com/office/drawing/2014/main" id="{DF9571E8-DAFA-7FCC-6521-4D81F26A9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6961F-48D2-7DAC-141C-51FAE71D7BB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8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C3B75-71CB-2107-5BA4-C7DF6D09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1FE91-E008-52D2-D1B5-B6B058CB3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A83813-E353-4A94-1B90-9BD1B7A9498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5015D-061B-EC17-F5D6-BECB12FA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811C8-F48F-CF01-1A77-A5E5AE9ED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9692" y="643466"/>
            <a:ext cx="8612616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E4896A-BEB7-039E-A13B-31BEAE861B6E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EA0B6-BD27-4A6E-FA96-35050FD7CBD7}"/>
              </a:ext>
            </a:extLst>
          </p:cNvPr>
          <p:cNvSpPr/>
          <p:nvPr/>
        </p:nvSpPr>
        <p:spPr>
          <a:xfrm>
            <a:off x="9993086" y="2993571"/>
            <a:ext cx="1066800" cy="1175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90417-533E-E64C-677B-786147E7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422" y="3886200"/>
            <a:ext cx="5362780" cy="16661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E102-29D9-AD93-501E-4181784E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17" y="4299876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Constant time!</a:t>
            </a:r>
          </a:p>
        </p:txBody>
      </p:sp>
      <p:pic>
        <p:nvPicPr>
          <p:cNvPr id="21" name="Graphic 20" descr="Circle Addition">
            <a:extLst>
              <a:ext uri="{FF2B5EF4-FFF2-40B4-BE49-F238E27FC236}">
                <a16:creationId xmlns:a16="http://schemas.microsoft.com/office/drawing/2014/main" id="{435E516F-B4D4-D9AD-4BA6-0F0742633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779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F217147-A4D8-BF03-8E93-D45FEE515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197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382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4342A-1CBF-A0F0-7142-6386B1D6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Example:</a:t>
            </a:r>
            <a:b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309385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creen Recording 2025-07-19 160453">
            <a:hlinkClick r:id="" action="ppaction://media"/>
            <a:extLst>
              <a:ext uri="{FF2B5EF4-FFF2-40B4-BE49-F238E27FC236}">
                <a16:creationId xmlns:a16="http://schemas.microsoft.com/office/drawing/2014/main" id="{B644C71F-A130-C4E2-2214-35FDA6026D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3467" y="2488437"/>
            <a:ext cx="10905066" cy="188112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83D4C-89A9-D794-53CF-4AC7566C165E}"/>
              </a:ext>
            </a:extLst>
          </p:cNvPr>
          <p:cNvSpPr txBox="1"/>
          <p:nvPr/>
        </p:nvSpPr>
        <p:spPr>
          <a:xfrm>
            <a:off x="5214257" y="5721108"/>
            <a:ext cx="6011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https://www.youtube.com/watch?v=Q1JdRUh1_98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2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A6FBC-A619-D7C6-F520-8AC56297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0F52413-99BA-3934-9504-516DA9D59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B99392-A865-4AD7-1DE9-E140A57F6C96}"/>
              </a:ext>
            </a:extLst>
          </p:cNvPr>
          <p:cNvSpPr/>
          <p:nvPr/>
        </p:nvSpPr>
        <p:spPr>
          <a:xfrm>
            <a:off x="195943" y="2481943"/>
            <a:ext cx="11647714" cy="3724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19E02-8255-E957-4C77-8041EDFC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A900DC-8DE0-0499-E4EA-0C9617AE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7DD38-23DC-DF18-FCE5-7A8AA034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0CCBCAAF-1DF2-A4F9-1728-977FE9E4C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4F08BB-0713-5556-7FC7-F53FB725C880}"/>
              </a:ext>
            </a:extLst>
          </p:cNvPr>
          <p:cNvSpPr/>
          <p:nvPr/>
        </p:nvSpPr>
        <p:spPr>
          <a:xfrm>
            <a:off x="195943" y="3320143"/>
            <a:ext cx="11647714" cy="2886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8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60652-E18D-CE8E-63F7-9EA341CF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823E8-000B-808B-D092-25DCA4C36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2EC89-C414-1694-2128-6CBECB3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617FF69-1F6A-C823-FCB2-6B9FC46C5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B4DD09-CE18-E808-E767-620AF568A8BE}"/>
              </a:ext>
            </a:extLst>
          </p:cNvPr>
          <p:cNvSpPr/>
          <p:nvPr/>
        </p:nvSpPr>
        <p:spPr>
          <a:xfrm>
            <a:off x="195943" y="4147457"/>
            <a:ext cx="11647714" cy="20587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4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BF575-5B8A-9D34-2CB5-58489E1B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FFCF96-A80C-8360-08EF-6B3450E90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0F87B-1379-5FD2-71BC-67B92087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2486C178-7E67-169B-BD08-C04A4863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D7A7FD-C4CD-F4E6-BA4E-FCDAE1A3C2B6}"/>
              </a:ext>
            </a:extLst>
          </p:cNvPr>
          <p:cNvSpPr/>
          <p:nvPr/>
        </p:nvSpPr>
        <p:spPr>
          <a:xfrm>
            <a:off x="195943" y="4996543"/>
            <a:ext cx="11647714" cy="120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2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063EC-AD22-59E3-C38D-6E5B4381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6919C4-5976-A65D-AB9C-4C9511B44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56A0B-8EF7-88B2-3DAF-AB6088AF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8EAB9ACE-6BC8-7A0B-16D3-EE8F293F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B0D8FE-3A70-521F-D22C-FA82D4726246}"/>
              </a:ext>
            </a:extLst>
          </p:cNvPr>
          <p:cNvSpPr/>
          <p:nvPr/>
        </p:nvSpPr>
        <p:spPr>
          <a:xfrm>
            <a:off x="195943" y="5998029"/>
            <a:ext cx="11647714" cy="208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97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F200-5432-5094-547B-75583B65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08993"/>
            <a:ext cx="9382759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we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formalize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“</a:t>
            </a:r>
            <a:r>
              <a:rPr lang="en-US" sz="48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time it takes to solve a problem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 as a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of the “</a:t>
            </a:r>
            <a:r>
              <a:rPr lang="en-US" sz="48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size of the input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1231778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09E1C-F931-4DED-FC70-4B55E730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The total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D701-5522-F752-BCB2-60773020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dirty="0"/>
              <a:t>Let the total time our algorithm consumes be </a:t>
            </a:r>
            <a:r>
              <a:rPr lang="en-US" i="1" dirty="0"/>
              <a:t>T(n)</a:t>
            </a:r>
          </a:p>
        </p:txBody>
      </p:sp>
      <p:pic>
        <p:nvPicPr>
          <p:cNvPr id="14" name="Picture 13" descr="Analogue wall clock">
            <a:extLst>
              <a:ext uri="{FF2B5EF4-FFF2-40B4-BE49-F238E27FC236}">
                <a16:creationId xmlns:a16="http://schemas.microsoft.com/office/drawing/2014/main" id="{9A08A2D2-7697-5809-0A30-D03BC123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2" r="3108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604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CE15F54-A875-85DF-3421-DFCCD715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66680B-B320-2D4E-44F6-A8AE00D52727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9583F-5583-9956-5873-AC7E517CF064}"/>
              </a:ext>
            </a:extLst>
          </p:cNvPr>
          <p:cNvSpPr/>
          <p:nvPr/>
        </p:nvSpPr>
        <p:spPr>
          <a:xfrm>
            <a:off x="1906859" y="944137"/>
            <a:ext cx="901326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1473-C5BA-F55E-EB17-8B5E4083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623A817-BB35-182E-2F9D-15D9E6A4C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BF5D50-9F87-6B6D-07AB-C0BB2F58DADB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E8AE2-CC61-D90F-5578-5809193A3873}"/>
              </a:ext>
            </a:extLst>
          </p:cNvPr>
          <p:cNvSpPr/>
          <p:nvPr/>
        </p:nvSpPr>
        <p:spPr>
          <a:xfrm>
            <a:off x="6556917" y="944137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64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61D9-DC26-1047-63D9-D55594D8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7812FDA-76BC-6D8A-106D-4EA240C34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</p:spTree>
    <p:extLst>
      <p:ext uri="{BB962C8B-B14F-4D97-AF65-F5344CB8AC3E}">
        <p14:creationId xmlns:p14="http://schemas.microsoft.com/office/powerpoint/2010/main" val="3488094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378C-6458-9D03-242B-3872138E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ACA321D-FC2F-0042-8EE8-57C7FC8A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15F384-EA5C-7989-054E-E72DFBBC1AF3}"/>
              </a:ext>
            </a:extLst>
          </p:cNvPr>
          <p:cNvSpPr txBox="1"/>
          <p:nvPr/>
        </p:nvSpPr>
        <p:spPr>
          <a:xfrm>
            <a:off x="5878285" y="3429000"/>
            <a:ext cx="5146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This looks complicated…</a:t>
            </a:r>
          </a:p>
        </p:txBody>
      </p:sp>
    </p:spTree>
    <p:extLst>
      <p:ext uri="{BB962C8B-B14F-4D97-AF65-F5344CB8AC3E}">
        <p14:creationId xmlns:p14="http://schemas.microsoft.com/office/powerpoint/2010/main" val="164670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00A30-FB87-6E52-8A67-350042A2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simplify things!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8980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B0F54-2AC5-60C7-D0DF-6C3BCA77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edge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5F52EF-F531-F875-D547-E9C318279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0441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92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DC53-1668-01EA-7D46-EF11C0323FA9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6B6173E-BA7B-A13B-5DE8-A1F95A983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640795"/>
            <a:ext cx="10744200" cy="13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39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F9A9-B3EB-7ED4-F155-E0A28C5D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734CFD6-8C5E-7D64-4222-1A647E6C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931390-070F-0B4D-28B6-6A6A02210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DC7D5-DC30-2040-CE0A-4565E6CFB247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4896F67-3883-67F8-0D15-B68927A5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pic>
        <p:nvPicPr>
          <p:cNvPr id="2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476833B-0E16-41C2-D2BD-F0741E4B3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0" y="3814514"/>
            <a:ext cx="11073620" cy="2749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/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 input array is already sorted. 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blipFill>
                <a:blip r:embed="rId4"/>
                <a:stretch>
                  <a:fillRect l="-167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10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0B805-8795-F64C-5592-46BD9098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69E75-D060-3ADA-BAD3-4C419B81D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5152F7-4973-8465-CECD-8492A8238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2D63D-49CA-627D-D5FC-6023A7DCE153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DE68650-820F-A17B-5607-C80785473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C5398E-08B7-95E1-13DC-4AEA3E940513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5F67659-4AD4-1C7A-6E6E-BA9C3F1D524E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EE64DB-56BB-8057-26FF-5C98BA42CF52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AAD288-A317-EF3E-F770-96594270E34B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02A16-0AF3-EB7E-CAC6-CDD6FC72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B8BF9D-3E6F-BE58-CE72-D0D6CC779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431BF-E06A-7F4A-2824-7127A7C2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6021A-C0C5-6ED6-5575-D087F024DFA8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BB4FAE-7B88-267C-0E71-687D7BE3A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F6B001-3CDC-1E1C-8681-3C90C4E89716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31CED4F-1BEF-FCDD-0D61-93D7F7B80F2F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25CC2-8071-CDCA-9483-0F24BA30E131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69975-764D-214A-6230-EA8D4DC7D9EA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FA526-3392-2BFF-3F84-BD477CD5F4A9}"/>
              </a:ext>
            </a:extLst>
          </p:cNvPr>
          <p:cNvSpPr txBox="1"/>
          <p:nvPr/>
        </p:nvSpPr>
        <p:spPr>
          <a:xfrm>
            <a:off x="3505202" y="4862244"/>
            <a:ext cx="464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a Linear Function of </a:t>
            </a:r>
            <a:r>
              <a:rPr lang="en-US" sz="2800" i="1" dirty="0"/>
              <a:t>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0576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FB99-5A07-2C48-69F6-F3F2B42F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input array is in reverse order</a:t>
                </a:r>
              </a:p>
              <a:p>
                <a:r>
                  <a:rPr lang="en-US" dirty="0"/>
                  <a:t>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3,…,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920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0975-01A4-7201-5CE1-C170CBA7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D64017BF-4AE0-B1D6-FEB8-E9907006C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15C1EE-D47B-6B98-21B3-578CCE4223EC}"/>
              </a:ext>
            </a:extLst>
          </p:cNvPr>
          <p:cNvSpPr/>
          <p:nvPr/>
        </p:nvSpPr>
        <p:spPr>
          <a:xfrm>
            <a:off x="3606772" y="3866008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51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A094-0E79-95AD-6372-D0873368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EA0F-3DA7-0C12-2F4A-00CEA9CE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2FB2B4E0-E938-CC2E-331C-F223A4852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</p:spTree>
    <p:extLst>
      <p:ext uri="{BB962C8B-B14F-4D97-AF65-F5344CB8AC3E}">
        <p14:creationId xmlns:p14="http://schemas.microsoft.com/office/powerpoint/2010/main" val="3866621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755D-6274-0B94-C380-D6945F1B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07FBECD9-B16F-48E9-2A04-6EA087D9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8" y="1945104"/>
            <a:ext cx="5801698" cy="3223166"/>
          </a:xfrm>
        </p:spPr>
      </p:pic>
    </p:spTree>
    <p:extLst>
      <p:ext uri="{BB962C8B-B14F-4D97-AF65-F5344CB8AC3E}">
        <p14:creationId xmlns:p14="http://schemas.microsoft.com/office/powerpoint/2010/main" val="800572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D77C-41E3-688A-60C5-E15832B2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6B46-E713-8063-2FC4-C8FC904F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FF067-AD58-DB6B-4BE4-B9E0E75F1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096DA6-37B6-92DE-87ED-A5C0882E8B16}"/>
              </a:ext>
            </a:extLst>
          </p:cNvPr>
          <p:cNvSpPr/>
          <p:nvPr/>
        </p:nvSpPr>
        <p:spPr>
          <a:xfrm>
            <a:off x="838200" y="3984171"/>
            <a:ext cx="11353800" cy="2013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43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FDC0-F343-1969-3496-A9C3C1B6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AD1F-7932-B8CE-7115-8E58099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3D696-2998-B740-EE16-ABBD16352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</p:spTree>
    <p:extLst>
      <p:ext uri="{BB962C8B-B14F-4D97-AF65-F5344CB8AC3E}">
        <p14:creationId xmlns:p14="http://schemas.microsoft.com/office/powerpoint/2010/main" val="1673037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7CCB-581C-F999-4EC2-1F00F2F7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FC26-A0C4-8462-64CF-D44919E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3D6D2-96C5-C406-FA54-CDD262014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97EAA7-23AA-8EBC-CD1B-6B4B50913F75}"/>
              </a:ext>
            </a:extLst>
          </p:cNvPr>
          <p:cNvSpPr/>
          <p:nvPr/>
        </p:nvSpPr>
        <p:spPr>
          <a:xfrm>
            <a:off x="1883229" y="4038600"/>
            <a:ext cx="2579914" cy="979714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A3FBF-1987-04BD-CB2B-EFAF6B87F8E7}"/>
              </a:ext>
            </a:extLst>
          </p:cNvPr>
          <p:cNvSpPr/>
          <p:nvPr/>
        </p:nvSpPr>
        <p:spPr>
          <a:xfrm>
            <a:off x="5421086" y="4038600"/>
            <a:ext cx="6008914" cy="979714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13D31-28B9-431A-54FF-F5C3A0B47501}"/>
              </a:ext>
            </a:extLst>
          </p:cNvPr>
          <p:cNvSpPr/>
          <p:nvPr/>
        </p:nvSpPr>
        <p:spPr>
          <a:xfrm>
            <a:off x="1883229" y="5014269"/>
            <a:ext cx="3722914" cy="624531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/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7344F84-9876-A466-B95D-193BC85C9C9C}"/>
              </a:ext>
            </a:extLst>
          </p:cNvPr>
          <p:cNvSpPr/>
          <p:nvPr/>
        </p:nvSpPr>
        <p:spPr>
          <a:xfrm>
            <a:off x="1698171" y="5925797"/>
            <a:ext cx="424543" cy="553998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24EFB-991B-9098-886E-A1047AECC0A8}"/>
              </a:ext>
            </a:extLst>
          </p:cNvPr>
          <p:cNvSpPr/>
          <p:nvPr/>
        </p:nvSpPr>
        <p:spPr>
          <a:xfrm>
            <a:off x="2960914" y="5938877"/>
            <a:ext cx="424543" cy="553998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545BB2-788B-F6F7-5E2C-9DCD5C9D2315}"/>
              </a:ext>
            </a:extLst>
          </p:cNvPr>
          <p:cNvSpPr/>
          <p:nvPr/>
        </p:nvSpPr>
        <p:spPr>
          <a:xfrm>
            <a:off x="4125685" y="5959055"/>
            <a:ext cx="424543" cy="553998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7204A-5355-75D0-682A-9413DD23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840096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worst case is a quadratic function of </a:t>
            </a:r>
            <a:r>
              <a:rPr lang="en-US" sz="5200" i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sSup>
                        <m:sSupPr>
                          <m:ctrlP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en-US" sz="3600" kern="1200" dirty="0">
                  <a:solidFill>
                    <a:schemeClr val="tx2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896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board">
            <a:extLst>
              <a:ext uri="{FF2B5EF4-FFF2-40B4-BE49-F238E27FC236}">
                <a16:creationId xmlns:a16="http://schemas.microsoft.com/office/drawing/2014/main" id="{502C6017-1FB2-E50C-F470-06C9BC18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4354C-B676-0FDE-D8E6-09F5FD6C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Let’s get even deeper into formalism!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210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40569-CA03-5992-5692-5F74ED02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793A43-EA8A-CB6D-75CC-FC0490206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08D387-8E56-E13E-DABA-B045C4DC9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73644-D8E9-5CDE-5EB0-FA7DD7B77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07383-F508-0416-CA36-D057192F2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21DD62-8714-D729-4643-D8EA3A4A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01A0D5-E452-6275-1E83-FA34F4E6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CC801-0F91-67D2-6283-A14D1651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Time complexity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EECED-E1F5-DD28-2FB0-7985A0BC3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9111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86747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BC5A3175-A9C3-766E-DD4F-3193605ED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3387095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29CB-EAA8-826B-14A8-96B662D9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6CD7A-C9C9-D0A3-C5FE-66DF45A5A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1414952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25CA-FB4A-A079-4C2A-0B0EDF35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2E440-8607-C3ED-ECCD-3A183AA5E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2926404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0C8E-CD32-CCAA-666C-BE8C3089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35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B59D-51A6-6843-03BC-807804C4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452A-D9FC-A7A2-A80B-70FCB09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28E1F4-0D37-4ACC-D8E7-243B101AF214}"/>
              </a:ext>
            </a:extLst>
          </p:cNvPr>
          <p:cNvSpPr txBox="1"/>
          <p:nvPr/>
        </p:nvSpPr>
        <p:spPr>
          <a:xfrm>
            <a:off x="838200" y="2905780"/>
            <a:ext cx="5166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…What about the average case?</a:t>
            </a:r>
          </a:p>
        </p:txBody>
      </p:sp>
    </p:spTree>
    <p:extLst>
      <p:ext uri="{BB962C8B-B14F-4D97-AF65-F5344CB8AC3E}">
        <p14:creationId xmlns:p14="http://schemas.microsoft.com/office/powerpoint/2010/main" val="2005728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3785-F11D-3D95-1BBE-3864AD7C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325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DA72-FC24-FB93-824A-CDD89280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EA64-A9D7-3488-241C-A92211CB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4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4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4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BR" sz="4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BR" sz="4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nary>
                        <m:naryPr>
                          <m:chr m:val="∑"/>
                          <m:limLoc m:val="subSup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4400" b="0" dirty="0"/>
              </a:p>
              <a:p>
                <a:pPr marL="0" indent="0">
                  <a:buNone/>
                </a:pPr>
                <a:r>
                  <a:rPr lang="en-US" sz="4400" b="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4400" b="0" dirty="0"/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90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F29DA-5BFA-DF21-07A7-EE2871EF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average case is often roughly as bad as the worst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454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07C74-9E15-7661-B278-E00D0FC1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really matters – The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Rate 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growth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48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A27-2409-926B-A7E4-26A3511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Sounds familiar?</a:t>
            </a:r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E355D615-FCA4-AEBE-4BA2-17C8E2EA7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601" y="1440510"/>
            <a:ext cx="6252797" cy="50523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7B923-1057-E739-146E-507EDEC7317C}"/>
              </a:ext>
            </a:extLst>
          </p:cNvPr>
          <p:cNvSpPr txBox="1"/>
          <p:nvPr/>
        </p:nvSpPr>
        <p:spPr>
          <a:xfrm>
            <a:off x="3233057" y="6519636"/>
            <a:ext cx="6207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https://www.mathsisfun.com/definitions/differentiation.html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/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blipFill>
                <a:blip r:embed="rId4"/>
                <a:stretch>
                  <a:fillRect l="-5854" t="-1639" r="-878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961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AB37-1FDB-A55A-94E5-CD0D98A7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407322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D969-55AF-CAC6-E8D6-C632D370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sz="3100" dirty="0"/>
              <a:t>Determine the upper bound for the following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982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46D9-575A-3D3B-6FD2-27FE6FA1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Determine which function grows faster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  --- OR ---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--- OR ---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+7∗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   --- OR ---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(7)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040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580EEB7-D437-32A9-CC78-5AC7A0DAC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449" y="231600"/>
            <a:ext cx="8749102" cy="63948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0C4B42-CC52-242C-C2D3-C97E3BD78D44}"/>
              </a:ext>
            </a:extLst>
          </p:cNvPr>
          <p:cNvSpPr/>
          <p:nvPr/>
        </p:nvSpPr>
        <p:spPr>
          <a:xfrm>
            <a:off x="1045029" y="4615543"/>
            <a:ext cx="827314" cy="1807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442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A709770-4335-FA48-781E-7110926E0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0"/>
            <a:ext cx="9492343" cy="6882960"/>
          </a:xfrm>
        </p:spPr>
      </p:pic>
    </p:spTree>
    <p:extLst>
      <p:ext uri="{BB962C8B-B14F-4D97-AF65-F5344CB8AC3E}">
        <p14:creationId xmlns:p14="http://schemas.microsoft.com/office/powerpoint/2010/main" val="36379427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9AE2-1D8D-4B1B-29AC-3A709AD8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66B3-F3EE-6331-6A88-4173D9DB7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https://read.learnyard.com/dsa/quiz-time-complexity/</a:t>
            </a:r>
            <a:endParaRPr lang="en-US" dirty="0"/>
          </a:p>
          <a:p>
            <a:r>
              <a:rPr lang="en-US">
                <a:hlinkClick r:id="rId3"/>
              </a:rPr>
              <a:t>https://www.101computing.net/big-o-notation-quiz/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10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660</Words>
  <Application>Microsoft Office PowerPoint</Application>
  <PresentationFormat>Widescreen</PresentationFormat>
  <Paragraphs>105</Paragraphs>
  <Slides>61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Cambria Math</vt:lpstr>
      <vt:lpstr>Office Theme</vt:lpstr>
      <vt:lpstr>Data Structures and Algorithms I.</vt:lpstr>
      <vt:lpstr>Introduction to the course</vt:lpstr>
      <vt:lpstr>Requirements</vt:lpstr>
      <vt:lpstr>Required Minimum</vt:lpstr>
      <vt:lpstr>Attendance IS mandatory!</vt:lpstr>
      <vt:lpstr>About the teacher</vt:lpstr>
      <vt:lpstr>I don’t know everything!</vt:lpstr>
      <vt:lpstr>Motivation</vt:lpstr>
      <vt:lpstr>Foundations</vt:lpstr>
      <vt:lpstr>Cost of computation </vt:lpstr>
      <vt:lpstr>Model of computation</vt:lpstr>
      <vt:lpstr>PowerPoint Presentation</vt:lpstr>
      <vt:lpstr>PowerPoint Presentation</vt:lpstr>
      <vt:lpstr>PowerPoint Presentation</vt:lpstr>
      <vt:lpstr>Basic operations</vt:lpstr>
      <vt:lpstr>PowerPoint Presentation</vt:lpstr>
      <vt:lpstr>Example: Insertion Sort</vt:lpstr>
      <vt:lpstr>PowerPoint Presentation</vt:lpstr>
      <vt:lpstr>Insertion sort - Pseudocode</vt:lpstr>
      <vt:lpstr>Insertion sort - Pseudocode</vt:lpstr>
      <vt:lpstr>Insertion sort - Pseudocode</vt:lpstr>
      <vt:lpstr>Insertion sort - Pseudocode</vt:lpstr>
      <vt:lpstr>Insertion sort - Pseudocode</vt:lpstr>
      <vt:lpstr>Can we formalize the “time it takes to solve a problem” as a function of the “size of the input”?</vt:lpstr>
      <vt:lpstr>The total time</vt:lpstr>
      <vt:lpstr>PowerPoint Presentation</vt:lpstr>
      <vt:lpstr>PowerPoint Presentation</vt:lpstr>
      <vt:lpstr>PowerPoint Presentation</vt:lpstr>
      <vt:lpstr>PowerPoint Presentation</vt:lpstr>
      <vt:lpstr>Let’s simplify things!</vt:lpstr>
      <vt:lpstr>edge cases</vt:lpstr>
      <vt:lpstr>PowerPoint Presentation</vt:lpstr>
      <vt:lpstr>PowerPoint Presentation</vt:lpstr>
      <vt:lpstr>PowerPoint Presentation</vt:lpstr>
      <vt:lpstr>PowerPoint Presentation</vt:lpstr>
      <vt:lpstr>Worst case</vt:lpstr>
      <vt:lpstr>Worst case </vt:lpstr>
      <vt:lpstr>Worst case </vt:lpstr>
      <vt:lpstr>Worst case</vt:lpstr>
      <vt:lpstr>Worst case</vt:lpstr>
      <vt:lpstr>Worst case</vt:lpstr>
      <vt:lpstr>Worst case</vt:lpstr>
      <vt:lpstr>The worst case is a quadratic function of n.</vt:lpstr>
      <vt:lpstr>Let’s get even deeper into formalism!</vt:lpstr>
      <vt:lpstr>Time complexity</vt:lpstr>
      <vt:lpstr>PowerPoint Presentation</vt:lpstr>
      <vt:lpstr>PowerPoint Presentation</vt:lpstr>
      <vt:lpstr>PowerPoint Presentation</vt:lpstr>
      <vt:lpstr>So, we can say:</vt:lpstr>
      <vt:lpstr>So, we can say:</vt:lpstr>
      <vt:lpstr>On average </vt:lpstr>
      <vt:lpstr>On average </vt:lpstr>
      <vt:lpstr>The average case is often roughly as bad as the worst case.</vt:lpstr>
      <vt:lpstr>What really matters – The Rate of growth</vt:lpstr>
      <vt:lpstr>Sounds familiar?</vt:lpstr>
      <vt:lpstr>Exercises</vt:lpstr>
      <vt:lpstr>  Determine the upper bound for the following functions:</vt:lpstr>
      <vt:lpstr>Determine which function grows faster</vt:lpstr>
      <vt:lpstr>PowerPoint Presentation</vt:lpstr>
      <vt:lpstr>PowerPoint Presentation</vt:lpstr>
      <vt:lpstr>Quiz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25</cp:revision>
  <dcterms:created xsi:type="dcterms:W3CDTF">2025-07-11T17:30:55Z</dcterms:created>
  <dcterms:modified xsi:type="dcterms:W3CDTF">2026-02-06T19:27:36Z</dcterms:modified>
</cp:coreProperties>
</file>