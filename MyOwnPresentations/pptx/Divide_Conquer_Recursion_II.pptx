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71" r:id="rId12"/>
    <p:sldId id="273" r:id="rId13"/>
    <p:sldId id="281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4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5" r:id="rId32"/>
    <p:sldId id="292" r:id="rId33"/>
    <p:sldId id="294" r:id="rId34"/>
    <p:sldId id="293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6" r:id="rId47"/>
    <p:sldId id="308" r:id="rId48"/>
    <p:sldId id="310" r:id="rId49"/>
    <p:sldId id="311" r:id="rId50"/>
    <p:sldId id="313" r:id="rId51"/>
    <p:sldId id="314" r:id="rId52"/>
    <p:sldId id="315" r:id="rId53"/>
    <p:sldId id="316" r:id="rId54"/>
    <p:sldId id="312" r:id="rId55"/>
    <p:sldId id="317" r:id="rId56"/>
    <p:sldId id="318" r:id="rId57"/>
    <p:sldId id="319" r:id="rId58"/>
    <p:sldId id="322" r:id="rId59"/>
    <p:sldId id="321" r:id="rId60"/>
    <p:sldId id="320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DFE78-208B-402D-B1CF-A34F5256246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453A9-DE84-429D-A751-D2AFBAA12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8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6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7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5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4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2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9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8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2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9865503/can-recursion-be-named-as-a-simple-function-cal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Spring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and white image of recursion&#10;&#10;AI-generated content may be incorrect.">
            <a:extLst>
              <a:ext uri="{FF2B5EF4-FFF2-40B4-BE49-F238E27FC236}">
                <a16:creationId xmlns:a16="http://schemas.microsoft.com/office/drawing/2014/main" id="{026D97E5-17FA-4ED8-C234-8AE61D2C7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86" y="457200"/>
            <a:ext cx="754742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6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FAF1C3-FEE1-0481-9A64-62C650AAB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83" y="457200"/>
            <a:ext cx="1112103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0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6DAE7684-D9A4-9CDC-7C7E-58E1FB760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E25EC1-BEC9-205C-C8ED-561F30970DA2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D2823-B24F-A526-2CDC-C18F56A3F096}"/>
              </a:ext>
            </a:extLst>
          </p:cNvPr>
          <p:cNvSpPr txBox="1"/>
          <p:nvPr/>
        </p:nvSpPr>
        <p:spPr>
          <a:xfrm>
            <a:off x="522514" y="5998029"/>
            <a:ext cx="10086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https://stackoverflow.com/questions/19865503/can-recursion-be-named-as-a-simple-function-call</a:t>
            </a: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80826-3035-68D3-374B-4149D8DE6D1B}"/>
              </a:ext>
            </a:extLst>
          </p:cNvPr>
          <p:cNvSpPr/>
          <p:nvPr/>
        </p:nvSpPr>
        <p:spPr>
          <a:xfrm>
            <a:off x="3398742" y="213640"/>
            <a:ext cx="8969829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78FEC-88EF-25A7-03A6-F072BA18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4F60B738-2EBE-B3ED-9A6C-E1E80C27D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8177F4-CF26-849B-679D-2964F66F9D0F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6AE09-9ADA-6B98-1F5C-083B96AAB2B0}"/>
              </a:ext>
            </a:extLst>
          </p:cNvPr>
          <p:cNvSpPr/>
          <p:nvPr/>
        </p:nvSpPr>
        <p:spPr>
          <a:xfrm>
            <a:off x="6313714" y="213640"/>
            <a:ext cx="6054857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4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996ED-E4CD-E950-0F7B-2A8E9072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0AD34A9B-2009-426F-3619-F7720B58C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1CEB81-D08F-9DD7-C2AA-AAEC7E284011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166385-8F4E-C79C-83EC-C8A353F4FD9A}"/>
              </a:ext>
            </a:extLst>
          </p:cNvPr>
          <p:cNvSpPr/>
          <p:nvPr/>
        </p:nvSpPr>
        <p:spPr>
          <a:xfrm>
            <a:off x="9437914" y="213640"/>
            <a:ext cx="2930657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60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E22AF-245D-9E29-8CF9-BC84377A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36E2F4A5-BE06-9878-78D2-DDF5504AF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FE450B-2F95-B2CB-2841-A746B5DD55F7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7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7B393-543A-1FD6-91EB-74F576BB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3F4CFF5D-2272-1A5B-FBBC-03FFE80F0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772F8-D315-AB2F-0963-7F9502A3B2E8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45729A-E64A-8561-F7D1-16EDCA77793D}"/>
              </a:ext>
            </a:extLst>
          </p:cNvPr>
          <p:cNvSpPr/>
          <p:nvPr/>
        </p:nvSpPr>
        <p:spPr>
          <a:xfrm>
            <a:off x="3391542" y="1159328"/>
            <a:ext cx="8800458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1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0A4A4-8CAE-3834-89B7-95F8AEB8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DF3164EF-0C47-2F6C-A884-AC4ADF944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A7290D-984B-C622-A4B0-D1F5037F84C9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C8D1E-3438-EF4D-FA28-BA08D3B0396B}"/>
              </a:ext>
            </a:extLst>
          </p:cNvPr>
          <p:cNvSpPr/>
          <p:nvPr/>
        </p:nvSpPr>
        <p:spPr>
          <a:xfrm>
            <a:off x="6694714" y="1159328"/>
            <a:ext cx="5497286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3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ECA79-75D4-163A-3A89-7DD03AA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F56923AE-43A9-650D-CF36-FFE47F334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2D6D29-77AA-5D6C-0B89-2D56D9E2DC0E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9A7ED8-D561-9971-2575-D77881CB9B66}"/>
              </a:ext>
            </a:extLst>
          </p:cNvPr>
          <p:cNvSpPr/>
          <p:nvPr/>
        </p:nvSpPr>
        <p:spPr>
          <a:xfrm>
            <a:off x="9808028" y="1159328"/>
            <a:ext cx="2383971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40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9CA36-4683-4363-F79F-15DFA989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BB0AAC3D-D898-E078-A604-3ED9A9434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B4E62F-BC0C-0131-E1D7-5ECBF8D4D2BE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6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umber and a diagram of a number&#10;&#10;AI-generated content may be incorrect.">
            <a:extLst>
              <a:ext uri="{FF2B5EF4-FFF2-40B4-BE49-F238E27FC236}">
                <a16:creationId xmlns:a16="http://schemas.microsoft.com/office/drawing/2014/main" id="{ED88B915-55BD-598E-EBFC-96D70E457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4668"/>
            <a:ext cx="11277600" cy="532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7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F91B560-92AA-6B34-4378-D8A5CFEAF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6" y="1042905"/>
            <a:ext cx="10877268" cy="3596002"/>
          </a:xfrm>
        </p:spPr>
      </p:pic>
    </p:spTree>
    <p:extLst>
      <p:ext uri="{BB962C8B-B14F-4D97-AF65-F5344CB8AC3E}">
        <p14:creationId xmlns:p14="http://schemas.microsoft.com/office/powerpoint/2010/main" val="3717306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08AD-5F83-08D3-509F-21EB54166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F8E77-8AA2-729C-32D4-0B5A40D07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F8E77-8AA2-729C-32D4-0B5A40D07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90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FD23-26B7-30F0-96AC-3305A9F0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ED37-1932-D31D-1CFC-B6CDB828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9673D-F876-2A80-343A-2734B2222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Conquer: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9673D-F876-2A80-343A-2734B2222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13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C24E-349E-2E9A-0F16-70353343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422B-C716-F2E3-ED29-76DD498A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2E24-A14E-4BAB-C035-2D27AC88EB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Conquer: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Combine: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2E24-A14E-4BAB-C035-2D27AC88E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891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DF58D6-6925-3175-9956-E303EE8A88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1</m:t>
                          </m:r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a:rPr lang="en-US" sz="48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2</m:t>
                      </m:r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fPr>
                            <m:num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48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DF58D6-6925-3175-9956-E303EE8A8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AA13-0A8B-EA38-380A-CA355858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time complexity of Merge Sort</a:t>
            </a:r>
          </a:p>
        </p:txBody>
      </p:sp>
    </p:spTree>
    <p:extLst>
      <p:ext uri="{BB962C8B-B14F-4D97-AF65-F5344CB8AC3E}">
        <p14:creationId xmlns:p14="http://schemas.microsoft.com/office/powerpoint/2010/main" val="3176787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96048-EECB-C985-081A-70AF5B4B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099823-9BB0-DED3-8FE8-BB14AE14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242437-B09A-DC89-E617-D44A803380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a:rPr lang="en-US" sz="48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2</m:t>
                      </m:r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fPr>
                            <m:num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48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242437-B09A-DC89-E617-D44A80338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041DA22-B5F4-87A3-258D-194029C7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A71-80B3-A86D-22DB-211A26AF0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9843A-F538-9890-DDAA-E2DEE966B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1B6B9-B9FA-7FCA-B51F-718C8ADA2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4197-349A-1108-15CB-C2BF4AB96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The time complexity of Merge Sort</a:t>
            </a:r>
          </a:p>
        </p:txBody>
      </p:sp>
    </p:spTree>
    <p:extLst>
      <p:ext uri="{BB962C8B-B14F-4D97-AF65-F5344CB8AC3E}">
        <p14:creationId xmlns:p14="http://schemas.microsoft.com/office/powerpoint/2010/main" val="224966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children coloring on a large paper&#10;&#10;AI-generated content may be incorrect.">
            <a:extLst>
              <a:ext uri="{FF2B5EF4-FFF2-40B4-BE49-F238E27FC236}">
                <a16:creationId xmlns:a16="http://schemas.microsoft.com/office/drawing/2014/main" id="{08FC7698-CE7F-274E-1DE4-53CC5E61F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4DDDE-A891-5CB7-2042-C751120F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320094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84D8A-37A0-19E7-9C0D-920E2E58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Recursion tree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58A03BE7-58E8-7C0C-2D5D-72A048051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649646"/>
            <a:ext cx="6408836" cy="540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11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9C6DFC32-A211-3756-E395-D5075B7F6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5" y="643466"/>
            <a:ext cx="7684229" cy="5571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D4E76D-BAB9-10AB-D321-738A6570757D}"/>
              </a:ext>
            </a:extLst>
          </p:cNvPr>
          <p:cNvSpPr/>
          <p:nvPr/>
        </p:nvSpPr>
        <p:spPr>
          <a:xfrm>
            <a:off x="6316400" y="2936872"/>
            <a:ext cx="3265714" cy="3102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7AF50-3925-71C5-158A-9E81E30AD406}"/>
                  </a:ext>
                </a:extLst>
              </p:cNvPr>
              <p:cNvSpPr txBox="1"/>
              <p:nvPr/>
            </p:nvSpPr>
            <p:spPr>
              <a:xfrm>
                <a:off x="7217228" y="3121929"/>
                <a:ext cx="11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7AF50-3925-71C5-158A-9E81E30AD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228" y="3121929"/>
                <a:ext cx="118102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898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8F51-9782-A155-2724-C4339CF5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F8C4B855-C079-CEFF-B760-0C3E96587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5" y="643466"/>
            <a:ext cx="768422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9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house with arrows&#10;&#10;AI-generated content may be incorrect.">
            <a:extLst>
              <a:ext uri="{FF2B5EF4-FFF2-40B4-BE49-F238E27FC236}">
                <a16:creationId xmlns:a16="http://schemas.microsoft.com/office/drawing/2014/main" id="{B128D4BE-A01D-AD3F-B9A9-0B4BEEB16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00" y="407700"/>
            <a:ext cx="6713999" cy="604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72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F6398-7D7D-D3C1-B044-A8387737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828268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F8DC617-078C-4B85-9017-80E8853DE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06871"/>
            <a:ext cx="10905066" cy="32442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2BAD90-3651-D778-462D-FC6D987CD625}"/>
              </a:ext>
            </a:extLst>
          </p:cNvPr>
          <p:cNvSpPr/>
          <p:nvPr/>
        </p:nvSpPr>
        <p:spPr>
          <a:xfrm>
            <a:off x="5791200" y="2253343"/>
            <a:ext cx="5246914" cy="402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C014B-AF3A-07AC-BA72-31CF831027B5}"/>
              </a:ext>
            </a:extLst>
          </p:cNvPr>
          <p:cNvSpPr/>
          <p:nvPr/>
        </p:nvSpPr>
        <p:spPr>
          <a:xfrm>
            <a:off x="468086" y="2574471"/>
            <a:ext cx="5246914" cy="402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60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FDCE4-5CDC-EBAB-E6F8-77E4694D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Master theorem (method)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31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2AFE5D4-11C9-7C9A-E339-38CC612297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87689" y="3071183"/>
                <a:ext cx="9910296" cy="259002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80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80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𝑎𝑇</m:t>
                      </m:r>
                      <m:d>
                        <m:dPr>
                          <m:ctrlPr>
                            <a:rPr lang="en-US" sz="80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fPr>
                            <m:num>
                              <m:r>
                                <a:rPr lang="en-US" sz="80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80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𝑓</m:t>
                      </m:r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(</m:t>
                      </m:r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𝑛</m:t>
                      </m:r>
                      <m:r>
                        <a:rPr lang="en-US" sz="8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en-US" sz="80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2AFE5D4-11C9-7C9A-E339-38CC612297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87689" y="3071183"/>
                <a:ext cx="9910296" cy="25900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08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60FD-FF35-104A-BDC2-2632EACC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BCC521-1567-F320-B4D4-AE593C0CC8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BCC521-1567-F320-B4D4-AE593C0CC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D87F6-3930-8A41-19E2-2D1F58BFDC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D87F6-3930-8A41-19E2-2D1F58BFD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  <a:blipFill>
                <a:blip r:embed="rId3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69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F7414-7556-0B91-923C-D600C79B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EFBDAC-EAE0-AD0E-96C1-D1CFBCEBF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130E31-A683-4FF0-6625-BC81ACFC9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4EF5B4-9D7C-E7C0-2274-7F0F7039C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5DE9ED-76C0-45EA-0B76-9E1E90035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280E2-CD38-6F40-9C8E-984430D1F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6736D-ED8D-5E43-82BB-49131C6BC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5C372E-DE33-F450-1E95-5B2CB94BA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5C372E-DE33-F450-1E95-5B2CB94BA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5754D-148E-FBD2-60B0-919EFB328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/>
                  <a:t> is called the “driving function”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𝑑𝑖𝑣𝑖𝑑𝑒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𝑐𝑜𝑚𝑏𝑖𝑛𝑒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5754D-148E-FBD2-60B0-919EFB328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  <a:blipFill>
                <a:blip r:embed="rId3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832668-34EF-037C-9598-2BD5B481B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230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ED6BC-900B-3E39-10BA-FE1B6663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3921C2-03F0-6EB5-5B91-69C26532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0C60BA-D9E0-5AD5-203A-40E88BCBF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B12854-8B29-A786-2A62-8BDFACFB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128D97-21C6-B2D4-3B0B-5C158AC46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5B366F-1319-FB3B-ADB8-712C0D95F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1FCFBAA-A554-2C69-83A0-0308C599D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8AD739-54EF-1497-184C-6BA7FFFB36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en-US" sz="4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4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8AD739-54EF-1497-184C-6BA7FFFB3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43631" y="809898"/>
                <a:ext cx="9942716" cy="155448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97085E-9470-6FDB-4D49-CF29B90A15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/>
                  <a:t> is called the “driving function”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𝑑𝑖𝑣𝑖𝑑𝑒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𝑐𝑜𝑚𝑏𝑖𝑛𝑒</m:t>
                    </m:r>
                  </m:oMath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b="0" dirty="0"/>
                  <a:t> is called the “watershed function”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97085E-9470-6FDB-4D49-CF29B90A15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  <a:blipFill>
                <a:blip r:embed="rId3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96A211-37E4-EC8C-B192-A729DC5C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08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D4AF2-A390-FF41-9283-261B0D16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Special cases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80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A6EB09-3726-8041-7CC7-BF67F9B26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A6EB09-3726-8041-7CC7-BF67F9B26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AD5A47B-F489-C409-3799-8DB001EF27FF}"/>
              </a:ext>
            </a:extLst>
          </p:cNvPr>
          <p:cNvSpPr/>
          <p:nvPr/>
        </p:nvSpPr>
        <p:spPr>
          <a:xfrm>
            <a:off x="2166257" y="1796143"/>
            <a:ext cx="9481457" cy="64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06191-F35F-F974-1526-86BC4980945D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170654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72AA-FAD6-E8E2-AD66-5247645D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5DBAC-0716-9C36-5F26-FFC87FCDF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5DBAC-0716-9C36-5F26-FFC87FCDF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22E19DB-8186-72F5-5237-5C5E510E5FF7}"/>
              </a:ext>
            </a:extLst>
          </p:cNvPr>
          <p:cNvSpPr/>
          <p:nvPr/>
        </p:nvSpPr>
        <p:spPr>
          <a:xfrm>
            <a:off x="7119258" y="1796143"/>
            <a:ext cx="4528456" cy="64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D10823-5E0A-7994-6BB9-2E92E4F8C7C6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2942080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BCC6-C321-969C-4FC1-E945D29C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1439-1A03-DB91-C1CD-6DEDE240B7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1439-1A03-DB91-C1CD-6DEDE240B7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B8D136D-4AD7-881A-2D0C-8354DF061FF3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3887071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11014-52E1-9D14-8823-4FF909EA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72394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F547B1-CD64-96A6-42DE-87150DCCB0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F547B1-CD64-96A6-42DE-87150DCCB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966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42537-A801-4EA4-E070-F82FC1FE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7A15C-EC8A-0EA5-3853-BA26CC21C7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7A15C-EC8A-0EA5-3853-BA26CC21C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61D03-2145-CB34-1211-3BCFDAB07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61D03-2145-CB34-1211-3BCFDAB07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916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F3106-BB78-792E-695D-7F736C6C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BBB532-9AF1-2B16-9E91-BDC3133CD7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BBB532-9AF1-2B16-9E91-BDC3133CD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D0333-0C39-E0F5-09E1-5E5545AC8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D0333-0C39-E0F5-09E1-5E5545AC8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476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2291-74C0-7ABA-ABA5-D438B152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10C37C-1DAA-A3D5-B1B0-041AA7CAAA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10C37C-1DAA-A3D5-B1B0-041AA7CAA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7F42B-86EE-12C4-1825-E8A189925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7F42B-86EE-12C4-1825-E8A189925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365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D9EF-20FF-735F-4AD6-214702F8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F2013F-A0E6-84B9-60BB-C0B5320ED4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F2013F-A0E6-84B9-60BB-C0B5320ED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30543-FBEC-F620-1F42-566126FDB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30543-FBEC-F620-1F42-566126FDB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29B0F2-9539-7786-291E-DE185BE5978A}"/>
                  </a:ext>
                </a:extLst>
              </p:cNvPr>
              <p:cNvSpPr txBox="1"/>
              <p:nvPr/>
            </p:nvSpPr>
            <p:spPr>
              <a:xfrm>
                <a:off x="707409" y="4001294"/>
                <a:ext cx="44641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29B0F2-9539-7786-291E-DE185BE59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09" y="4001294"/>
                <a:ext cx="4464171" cy="584775"/>
              </a:xfrm>
              <a:prstGeom prst="rect">
                <a:avLst/>
              </a:prstGeom>
              <a:blipFill>
                <a:blip r:embed="rId4"/>
                <a:stretch>
                  <a:fillRect l="-3415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117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0087-F42F-236B-F6B2-4ABD34E9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7D92C-8226-15B5-17B2-9C6885DDC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7D92C-8226-15B5-17B2-9C6885DDC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987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CD82-D26B-182A-6205-EF68B552B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1ED0-844C-B67A-48A6-57F549C5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B0967-BAFD-EC08-67FD-B152171FE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B0967-BAFD-EC08-67FD-B152171FE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790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DBB4-DADA-B821-2988-51D2D5B0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DF03-F293-B388-8902-84C32459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73B20-B022-9199-F732-290E29DC6B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73B20-B022-9199-F732-290E29DC6B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4179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B3272-F072-D20F-976C-92A5308D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F091B43-834D-2807-8BF4-B8713B8FA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0D44FA-CFDE-5206-42AF-E4E3ACCC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584E099-9C0E-8BCE-4DEB-ACB3C62E9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4193D1-3B9B-E9AA-9BA4-920249A33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3A983C3-74EF-1E63-57F9-007CEAA9D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24A34-9679-4D23-A234-20DC9908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30364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45E2-1528-E5D6-9D62-8FFFC666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FBF81A-992F-32BB-4B9F-70EEF42990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FBF81A-992F-32BB-4B9F-70EEF4299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0CB5AE-89F2-0CCE-ABA4-612923EF1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0CB5AE-89F2-0CCE-ABA4-612923EF1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651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8F517C-302B-336B-D669-468EAF609A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8F517C-302B-336B-D669-468EAF609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422D9-3CD8-F97A-FB0B-37BE0FF31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3/2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422D9-3CD8-F97A-FB0B-37BE0FF31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9871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B518-49CC-4782-3466-44BB0E6D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170AB9-B157-BF54-505E-A900DEA00F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170AB9-B157-BF54-505E-A900DEA00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66A76-B89C-23B5-5C6B-04E7178F8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3/2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𝑙𝑔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66A76-B89C-23B5-5C6B-04E7178F8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AA5E7C-8D56-6C0A-8096-A360955D8DE5}"/>
                  </a:ext>
                </a:extLst>
              </p:cNvPr>
              <p:cNvSpPr txBox="1"/>
              <p:nvPr/>
            </p:nvSpPr>
            <p:spPr>
              <a:xfrm>
                <a:off x="707409" y="4001294"/>
                <a:ext cx="50023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𝑙𝑔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AA5E7C-8D56-6C0A-8096-A360955D8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09" y="4001294"/>
                <a:ext cx="5002331" cy="584775"/>
              </a:xfrm>
              <a:prstGeom prst="rect">
                <a:avLst/>
              </a:prstGeom>
              <a:blipFill>
                <a:blip r:embed="rId4"/>
                <a:stretch>
                  <a:fillRect l="-3045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835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0FB994-6A6E-0F04-72D9-9FA123FBD1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0FB994-6A6E-0F04-72D9-9FA123FBD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971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6DA8-DE28-A7C4-83D1-E85EDCA6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20E18A-0EB0-E6B8-31EF-E108E84004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20E18A-0EB0-E6B8-31EF-E108E8400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24C0A8-3F9B-DBF8-3BC8-456C0B5C1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2820615"/>
            <a:ext cx="11669486" cy="1216769"/>
          </a:xfrm>
        </p:spPr>
      </p:pic>
    </p:spTree>
    <p:extLst>
      <p:ext uri="{BB962C8B-B14F-4D97-AF65-F5344CB8AC3E}">
        <p14:creationId xmlns:p14="http://schemas.microsoft.com/office/powerpoint/2010/main" val="1985830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C3FE-901C-6AD1-D1EF-3D584B5A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21EE9-A8E1-17EF-E77C-A809A9724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𝑠𝑢𝑐h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𝑡h𝑎𝑡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21EE9-A8E1-17EF-E77C-A809A9724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3CA3A8-4156-A6A8-E7BB-0CE77774CED3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3</a:t>
            </a:r>
          </a:p>
        </p:txBody>
      </p:sp>
    </p:spTree>
    <p:extLst>
      <p:ext uri="{BB962C8B-B14F-4D97-AF65-F5344CB8AC3E}">
        <p14:creationId xmlns:p14="http://schemas.microsoft.com/office/powerpoint/2010/main" val="3215861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5EAD-BE2C-00F9-0439-DABA1B09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A184B-6573-3424-E441-50DF5B4B4A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𝑠𝑢𝑐h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𝑡h𝑎𝑡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𝑖𝑓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&lt;1,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𝑠𝑢𝑐h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32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A184B-6573-3424-E441-50DF5B4B4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EE2EF39-6FFE-4709-F498-93A0B302BE44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3</a:t>
            </a:r>
          </a:p>
        </p:txBody>
      </p:sp>
    </p:spTree>
    <p:extLst>
      <p:ext uri="{BB962C8B-B14F-4D97-AF65-F5344CB8AC3E}">
        <p14:creationId xmlns:p14="http://schemas.microsoft.com/office/powerpoint/2010/main" val="823777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D60D-0D79-BB85-905F-BC139EB9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4152F-A3F3-1F84-44E8-B115575B7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𝑠𝑢𝑐h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𝑡h𝑎𝑡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&lt;1,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𝑠𝑢𝑐h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3200" b="0" dirty="0"/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4152F-A3F3-1F84-44E8-B115575B7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825625"/>
                <a:ext cx="1146265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47AF40-B8AE-0771-746C-E03F32247D00}"/>
              </a:ext>
            </a:extLst>
          </p:cNvPr>
          <p:cNvSpPr txBox="1"/>
          <p:nvPr/>
        </p:nvSpPr>
        <p:spPr>
          <a:xfrm>
            <a:off x="455532" y="533400"/>
            <a:ext cx="1710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3</a:t>
            </a:r>
          </a:p>
        </p:txBody>
      </p:sp>
    </p:spTree>
    <p:extLst>
      <p:ext uri="{BB962C8B-B14F-4D97-AF65-F5344CB8AC3E}">
        <p14:creationId xmlns:p14="http://schemas.microsoft.com/office/powerpoint/2010/main" val="3672034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0F541-A0AA-A6F4-FBE7-E5BFC4DC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2D54426-5A7D-CC0B-E7CB-22DBDFAC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DD3091-9707-3716-6DAA-4DCDBCE91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27C3BC-B6E2-587B-E6EA-7A176D0CC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A58E90E-E0E0-10E2-EC83-69D0E903D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07AEF5F-5063-12BA-E17B-EE675CBBA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596D1-8822-83D5-3856-FD770BE8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7229578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B6F91E-EED3-77C2-31ED-E585BDC9E5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B6F91E-EED3-77C2-31ED-E585BDC9E5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CA056-0EBD-9C51-0FBD-FB76440CB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793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CA056-0EBD-9C51-0FBD-FB76440CB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911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E1FFB-4241-1B28-9757-298AD0C5F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4266A8-5EBD-4101-9EF4-967AC180D8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4266A8-5EBD-4101-9EF4-967AC180D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FC057-2EA1-397F-5D1E-1FDCB689D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793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0.793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≈0.2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FC057-2EA1-397F-5D1E-1FDCB689D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3412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04DB-16E0-6EBD-269E-833DF8C2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DC866F-4A36-A509-F67F-D052064485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DC866F-4A36-A509-F67F-D05206448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498FE-0054-3D66-4EAE-34E6FAAD5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793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0.793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≈0.2</m:t>
                    </m:r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𝑙𝑔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498FE-0054-3D66-4EAE-34E6FAAD5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C4E6D8-628F-30C6-A46A-44AA34550652}"/>
                  </a:ext>
                </a:extLst>
              </p:cNvPr>
              <p:cNvSpPr txBox="1"/>
              <p:nvPr/>
            </p:nvSpPr>
            <p:spPr>
              <a:xfrm>
                <a:off x="838200" y="5187837"/>
                <a:ext cx="56260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𝑙𝑔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C4E6D8-628F-30C6-A46A-44AA34550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87837"/>
                <a:ext cx="5626092" cy="584775"/>
              </a:xfrm>
              <a:prstGeom prst="rect">
                <a:avLst/>
              </a:prstGeom>
              <a:blipFill>
                <a:blip r:embed="rId4"/>
                <a:stretch>
                  <a:fillRect l="-2820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1257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0074-5025-9CD6-FFFC-12491C02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 -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9A0C0-71EE-18A4-4A98-F63C91C01B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recurrence is in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“driving function”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is called the “watershed function”</a:t>
                </a:r>
              </a:p>
              <a:p>
                <a:r>
                  <a:rPr lang="en-US" dirty="0"/>
                  <a:t>3 Special cases make calculations easier: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9A0C0-71EE-18A4-4A98-F63C91C01B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0784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7E39-6851-E345-1E34-18BB8E6B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982BA-7FD9-E6A8-8955-F7036DC432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write 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In the context of </a:t>
                </a:r>
                <a:r>
                  <a:rPr lang="en-US" dirty="0" err="1"/>
                  <a:t>the“Master</a:t>
                </a:r>
                <a:r>
                  <a:rPr lang="en-US" dirty="0"/>
                  <a:t> Theorem”, we mean that </a:t>
                </a:r>
                <a:r>
                  <a:rPr lang="en-US" i="1" dirty="0"/>
                  <a:t>g</a:t>
                </a:r>
                <a:r>
                  <a:rPr lang="en-US" dirty="0"/>
                  <a:t> grows </a:t>
                </a:r>
                <a:r>
                  <a:rPr lang="en-US" i="1" dirty="0" err="1"/>
                  <a:t>polynomially</a:t>
                </a:r>
                <a:r>
                  <a:rPr lang="en-US" i="1" dirty="0"/>
                  <a:t> faster than f</a:t>
                </a:r>
              </a:p>
              <a:p>
                <a:pPr lvl="1"/>
                <a:r>
                  <a:rPr lang="en-US" i="1" dirty="0"/>
                  <a:t>Which means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i="1" dirty="0"/>
              </a:p>
              <a:p>
                <a:r>
                  <a:rPr lang="en-US" i="1" dirty="0"/>
                  <a:t>Examples: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1.99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sup>
                    </m:sSup>
                  </m:oMath>
                </a14:m>
                <a:r>
                  <a:rPr lang="en-US" dirty="0"/>
                  <a:t>, 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1.99</m:t>
                        </m:r>
                      </m:sup>
                    </m:sSup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therefore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982BA-7FD9-E6A8-8955-F7036DC432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828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04117-1F71-DE92-66CC-A2093F0D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44F51C6-6E74-77C1-1F09-3A7322ADA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56525E-1945-B8DC-783F-7AA098D34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52E9D-03B8-9396-44B1-8993A6CA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921677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23279A0-2F8F-3EAE-D60C-BF219F286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79720"/>
            <a:ext cx="10905066" cy="38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667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996</Words>
  <Application>Microsoft Office PowerPoint</Application>
  <PresentationFormat>Widescreen</PresentationFormat>
  <Paragraphs>117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Cambria Math</vt:lpstr>
      <vt:lpstr>1_Office Theme</vt:lpstr>
      <vt:lpstr>Data Structures and Algorithms 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sort – time complexity analysis</vt:lpstr>
      <vt:lpstr>Merge sort – time complexity analysis</vt:lpstr>
      <vt:lpstr>Merge sort – time complexity analysis</vt:lpstr>
      <vt:lpstr>T(n)=Θ(1)+2T(n/2)+Θ(n)</vt:lpstr>
      <vt:lpstr>T(n)=2T(n/2)+Θ(n)</vt:lpstr>
      <vt:lpstr>It’s drawing time!</vt:lpstr>
      <vt:lpstr>Recursion tree</vt:lpstr>
      <vt:lpstr>PowerPoint Presentation</vt:lpstr>
      <vt:lpstr>PowerPoint Presentation</vt:lpstr>
      <vt:lpstr>PowerPoint Presentation</vt:lpstr>
      <vt:lpstr>Exercises</vt:lpstr>
      <vt:lpstr>PowerPoint Presentation</vt:lpstr>
      <vt:lpstr>Master theorem (method)</vt:lpstr>
      <vt:lpstr>T(n)=aT(n/b)+f(n)</vt:lpstr>
      <vt:lpstr>T(n)=aT(n/b)+f(n)</vt:lpstr>
      <vt:lpstr>T(n)=aT(n/b)+f(n)</vt:lpstr>
      <vt:lpstr>T(n)=aT(n/b)+f(n)</vt:lpstr>
      <vt:lpstr>3 Special cases</vt:lpstr>
      <vt:lpstr>PowerPoint Presentation</vt:lpstr>
      <vt:lpstr>PowerPoint Presentation</vt:lpstr>
      <vt:lpstr>PowerPoint Presentation</vt:lpstr>
      <vt:lpstr>Example</vt:lpstr>
      <vt:lpstr>T(n)=9T(n/3)+n</vt:lpstr>
      <vt:lpstr>T(n)=9T(n/3)+n</vt:lpstr>
      <vt:lpstr>T(n)=9T(n/3)+n</vt:lpstr>
      <vt:lpstr>T(n)=9T(n/3)+n</vt:lpstr>
      <vt:lpstr>T(n)=9T(n/3)+n</vt:lpstr>
      <vt:lpstr>Case 2</vt:lpstr>
      <vt:lpstr>Case 2</vt:lpstr>
      <vt:lpstr>Case 2</vt:lpstr>
      <vt:lpstr>Example</vt:lpstr>
      <vt:lpstr>T(n)=T(2n/3)+1</vt:lpstr>
      <vt:lpstr>T(n)=T(2n/3)+1</vt:lpstr>
      <vt:lpstr>T(n)=T(2n/3)+1</vt:lpstr>
      <vt:lpstr>T(n)=2T(n/2)+n∗lg(n)</vt:lpstr>
      <vt:lpstr>T(n)=2T(n/2)+n∗lg(n)</vt:lpstr>
      <vt:lpstr>PowerPoint Presentation</vt:lpstr>
      <vt:lpstr>PowerPoint Presentation</vt:lpstr>
      <vt:lpstr>PowerPoint Presentation</vt:lpstr>
      <vt:lpstr>Example</vt:lpstr>
      <vt:lpstr>T(n)=3T(n/4)+n∗lg(n)</vt:lpstr>
      <vt:lpstr>T(n)=3T(n/4)+n∗lg(n)</vt:lpstr>
      <vt:lpstr>T(n)=3T(n/4)+n∗lg(n)</vt:lpstr>
      <vt:lpstr>Master method - recap</vt:lpstr>
      <vt:lpstr>Appendix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14</cp:revision>
  <dcterms:created xsi:type="dcterms:W3CDTF">2025-08-20T14:32:22Z</dcterms:created>
  <dcterms:modified xsi:type="dcterms:W3CDTF">2026-02-21T16:23:20Z</dcterms:modified>
</cp:coreProperties>
</file>