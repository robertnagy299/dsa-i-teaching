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2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9" r:id="rId10"/>
    <p:sldId id="270" r:id="rId11"/>
    <p:sldId id="271" r:id="rId12"/>
    <p:sldId id="273" r:id="rId13"/>
    <p:sldId id="281" r:id="rId14"/>
    <p:sldId id="274" r:id="rId15"/>
    <p:sldId id="275" r:id="rId16"/>
    <p:sldId id="276" r:id="rId17"/>
    <p:sldId id="277" r:id="rId18"/>
    <p:sldId id="278" r:id="rId19"/>
    <p:sldId id="279" r:id="rId20"/>
    <p:sldId id="280" r:id="rId21"/>
    <p:sldId id="282" r:id="rId22"/>
    <p:sldId id="284" r:id="rId23"/>
    <p:sldId id="283" r:id="rId24"/>
    <p:sldId id="285" r:id="rId25"/>
    <p:sldId id="286" r:id="rId26"/>
    <p:sldId id="287" r:id="rId27"/>
    <p:sldId id="288" r:id="rId28"/>
    <p:sldId id="289" r:id="rId29"/>
    <p:sldId id="290" r:id="rId30"/>
    <p:sldId id="291" r:id="rId31"/>
    <p:sldId id="295" r:id="rId32"/>
    <p:sldId id="292" r:id="rId33"/>
    <p:sldId id="294" r:id="rId34"/>
    <p:sldId id="293" r:id="rId35"/>
    <p:sldId id="296" r:id="rId36"/>
    <p:sldId id="297" r:id="rId37"/>
    <p:sldId id="298" r:id="rId38"/>
    <p:sldId id="299" r:id="rId39"/>
    <p:sldId id="300" r:id="rId40"/>
    <p:sldId id="301" r:id="rId41"/>
    <p:sldId id="302" r:id="rId42"/>
    <p:sldId id="303" r:id="rId43"/>
    <p:sldId id="304" r:id="rId44"/>
    <p:sldId id="305" r:id="rId45"/>
    <p:sldId id="307" r:id="rId46"/>
    <p:sldId id="306" r:id="rId47"/>
    <p:sldId id="308" r:id="rId48"/>
    <p:sldId id="310" r:id="rId49"/>
    <p:sldId id="311" r:id="rId50"/>
    <p:sldId id="313" r:id="rId51"/>
    <p:sldId id="314" r:id="rId52"/>
    <p:sldId id="315" r:id="rId53"/>
    <p:sldId id="316" r:id="rId54"/>
    <p:sldId id="312" r:id="rId55"/>
    <p:sldId id="317" r:id="rId56"/>
    <p:sldId id="318" r:id="rId57"/>
    <p:sldId id="319" r:id="rId58"/>
    <p:sldId id="322" r:id="rId59"/>
    <p:sldId id="321" r:id="rId60"/>
    <p:sldId id="320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ADFE78-208B-402D-B1CF-A34F52562469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453A9-DE84-429D-A751-D2AFBAA12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5835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E241-8B2D-ECEF-1744-39FA11751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C4B584-F076-BFF5-2434-985C49B34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6BE45-9333-2FDA-D229-BB7F94A5D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9F73C-3050-7F08-0988-E7AEA1F89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D4AD9-A904-5C5F-CDA1-D8026F12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761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95DA2-4849-C734-D90A-A02D0BDBE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2D88-0BC7-285A-7150-77A3E5324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1DFE6-67D6-6929-B0D7-1E50EFD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F74CE-909D-327A-16CE-F8B08425B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4D6BD-363C-FFDE-0147-FCB593507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672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BFB66-FED5-C23F-A119-56847871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0F3DC-C4FA-9B3E-0A41-B994BE54A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F6593-7605-6B6A-43F8-A75CE3FCA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20ADF-AB69-F8FF-7D51-F02E78011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14165-98C3-E8F8-9238-5B86EC40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2542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FA95-D666-B294-DAA1-F38D600B4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D57B3-312E-150E-FAC4-37CAE3F7A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BD6F15-44BA-54B3-0C6E-93D10704E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0D678-A6C5-B023-1F27-3F4DF5C9B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2D8DA-3B85-9DB5-2A7E-64796A35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B562F-1AFF-0C90-B6D3-AA0AC246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749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D3A3E-D984-E5EE-B50B-82D6A146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172E0-233A-777A-19F0-886F8F7F8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6BBD-7869-1FA8-E9C2-0F2A5E46C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F7557-A959-94A1-6DAA-946B541C0E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A3DB72-1531-44DB-2BB0-1C3A9CCC62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686509-38A8-DEB0-AC4E-60273B6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595E2D-3FCE-7663-ADDD-B9D2BABB7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05A61D-0F2E-5F50-3F85-96416B9B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222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0F628-9666-D68E-8925-4C88B845C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FE773-9442-F217-C0F2-3E90F36E2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02FF80-E9B3-F78D-421C-077FDDE0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B4EFF-CFDA-40BC-8C59-EF47FC2B5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2412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2CD6C-62A6-7807-BCA5-9C954C036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D1C279-D75F-759D-4B09-34A880540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E702A-5E82-A436-1CF1-AC1A5F1D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23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255C2-612A-1713-E9F9-C567C49EF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C25D3-AC77-BEC9-CAE2-E0B56C6C6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0BF17-72D6-4C5F-63BF-63E09F84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6480D-1305-DBDC-69F1-7F5788D2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10CE9-13D7-28C9-516A-5F548EC30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8DFF4-9934-70B9-FF5A-14DECC12E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10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2A2AC-3BFC-8D13-F061-1D8BA629F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E17838-5D5F-1AC4-2AA6-AB201A498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A495F-243C-04C6-D8FF-44A21B7A8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3BC94-BB1D-03FB-0C2A-5A2874C6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58AE6C-6A78-516D-60F4-3DDC1EBA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A5DE6A-457E-2A89-A0BB-5A61AD899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37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11E31-AC2E-E027-6BCA-8959DD373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CD8F0C-E592-BC50-EACE-A200D9D69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0F7BB-297F-7BA6-2B9B-CCB896D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0FB0D6-482B-29F6-26D6-5EDD7B777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74FB8-D633-35BA-DDD7-CD6F0859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299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FD6B4B-D467-2CC4-B071-114D099A0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4A8AA-9629-7368-7203-3E2A03E01A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85EF8-CBC7-A453-61F9-476116AF6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CAA67-64B2-580A-F610-CEBEFC325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326A-582B-1C6F-4791-84ACA558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683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DC7DE6-1EEF-DF17-75D8-A6F6D6344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223C0-1BCC-71E5-EE23-D01197BCA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31058-303A-EE33-694F-DE56AC03D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59B44-5FCF-3438-7C14-156D364CBA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E7A8B-89D9-BA6F-C698-C50583E7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7204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tackoverflow.com/questions/19865503/can-recursion-be-named-as-a-simple-function-call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6" name="Rectangle 135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9A9A-32C5-C019-66BA-65438A784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3442" y="921715"/>
            <a:ext cx="5163022" cy="2635993"/>
          </a:xfrm>
        </p:spPr>
        <p:txBody>
          <a:bodyPr anchor="b">
            <a:normAutofit/>
          </a:bodyPr>
          <a:lstStyle/>
          <a:p>
            <a:pPr algn="l"/>
            <a:r>
              <a:rPr lang="en-US" sz="4800"/>
              <a:t>Data Structures and Algorithms I.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C05CA36-AD6A-4ABF-9A05-52E5A143D2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4022214"/>
            <a:ext cx="12192000" cy="2835786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D4331EE8-85A4-4588-8D9E-70E534D47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4022220"/>
            <a:ext cx="8153398" cy="2835780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9D6C862-61CC-4B46-8080-96583D65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022219"/>
            <a:ext cx="12253472" cy="2835781"/>
          </a:xfrm>
          <a:prstGeom prst="rect">
            <a:avLst/>
          </a:prstGeom>
          <a:gradFill>
            <a:gsLst>
              <a:gs pos="39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72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2F5B50-E332-CBF2-D1A2-66ADD2849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442" y="4541263"/>
            <a:ext cx="4662957" cy="1395022"/>
          </a:xfrm>
        </p:spPr>
        <p:txBody>
          <a:bodyPr anchor="t">
            <a:normAutofit/>
          </a:bodyPr>
          <a:lstStyle/>
          <a:p>
            <a:pPr algn="l"/>
            <a:r>
              <a:rPr lang="hu-HU" dirty="0">
                <a:solidFill>
                  <a:srgbClr val="FFFFFF"/>
                </a:solidFill>
              </a:rPr>
              <a:t>University of </a:t>
            </a:r>
            <a:r>
              <a:rPr lang="en-US" dirty="0">
                <a:solidFill>
                  <a:srgbClr val="FFFFFF"/>
                </a:solidFill>
              </a:rPr>
              <a:t>Szeged </a:t>
            </a:r>
          </a:p>
          <a:p>
            <a:pPr algn="l"/>
            <a:r>
              <a:rPr lang="en-US" sz="1600" dirty="0">
                <a:solidFill>
                  <a:srgbClr val="FFFFFF"/>
                </a:solidFill>
              </a:rPr>
              <a:t>Robert Nagy</a:t>
            </a:r>
          </a:p>
          <a:p>
            <a:pPr algn="l"/>
            <a:r>
              <a:rPr lang="en-US" dirty="0">
                <a:solidFill>
                  <a:srgbClr val="FFFFFF"/>
                </a:solidFill>
              </a:rPr>
              <a:t>2025/26. Autumn Semester</a:t>
            </a:r>
          </a:p>
          <a:p>
            <a:pPr algn="l"/>
            <a:endParaRPr lang="hu-HU" dirty="0">
              <a:solidFill>
                <a:srgbClr val="FFFFFF"/>
              </a:solidFill>
            </a:endParaRPr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F6E8DA17-1D3B-550A-937D-6AA2C49DC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>
          <a:xfrm>
            <a:off x="6573907" y="658489"/>
            <a:ext cx="5163022" cy="5163022"/>
          </a:xfrm>
          <a:prstGeom prst="rect">
            <a:avLst/>
          </a:prstGeom>
        </p:spPr>
      </p:pic>
      <p:sp>
        <p:nvSpPr>
          <p:cNvPr id="144" name="Rectangle 143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797"/>
            <a:ext cx="12191998" cy="457203"/>
          </a:xfrm>
          <a:prstGeom prst="rect">
            <a:avLst/>
          </a:prstGeom>
          <a:gradFill>
            <a:gsLst>
              <a:gs pos="0">
                <a:srgbClr val="000000">
                  <a:alpha val="43000"/>
                </a:srgbClr>
              </a:gs>
              <a:gs pos="79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004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black and white image of recursion&#10;&#10;AI-generated content may be incorrect.">
            <a:extLst>
              <a:ext uri="{FF2B5EF4-FFF2-40B4-BE49-F238E27FC236}">
                <a16:creationId xmlns:a16="http://schemas.microsoft.com/office/drawing/2014/main" id="{026D97E5-17FA-4ED8-C234-8AE61D2C7C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2286" y="457200"/>
            <a:ext cx="7547428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565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3FAF1C3-FEE1-0481-9A64-62C650AABE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483" y="457200"/>
            <a:ext cx="11121034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003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oup of rectangular objects with text&#10;&#10;AI-generated content may be incorrect.">
            <a:extLst>
              <a:ext uri="{FF2B5EF4-FFF2-40B4-BE49-F238E27FC236}">
                <a16:creationId xmlns:a16="http://schemas.microsoft.com/office/drawing/2014/main" id="{6DAE7684-D9A4-9CDC-7C7E-58E1FB760A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01486" y="216769"/>
            <a:ext cx="13193486" cy="999406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9E25EC1-BEC9-205C-C8ED-561F30970DA2}"/>
              </a:ext>
            </a:extLst>
          </p:cNvPr>
          <p:cNvSpPr/>
          <p:nvPr/>
        </p:nvSpPr>
        <p:spPr>
          <a:xfrm>
            <a:off x="-135429" y="5007428"/>
            <a:ext cx="11974286" cy="52034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3D2823-B24F-A526-2CDC-C18F56A3F096}"/>
              </a:ext>
            </a:extLst>
          </p:cNvPr>
          <p:cNvSpPr txBox="1"/>
          <p:nvPr/>
        </p:nvSpPr>
        <p:spPr>
          <a:xfrm>
            <a:off x="522514" y="5998029"/>
            <a:ext cx="100867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https://stackoverflow.com/questions/19865503/can-recursion-be-named-as-a-simple-function-call</a:t>
            </a:r>
            <a:endParaRPr lang="en-US" dirty="0"/>
          </a:p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180826-3035-68D3-374B-4149D8DE6D1B}"/>
              </a:ext>
            </a:extLst>
          </p:cNvPr>
          <p:cNvSpPr/>
          <p:nvPr/>
        </p:nvSpPr>
        <p:spPr>
          <a:xfrm>
            <a:off x="3398742" y="213640"/>
            <a:ext cx="8969829" cy="51653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0636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078FEC-88EF-25A7-03A6-F072BA183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oup of rectangular objects with text&#10;&#10;AI-generated content may be incorrect.">
            <a:extLst>
              <a:ext uri="{FF2B5EF4-FFF2-40B4-BE49-F238E27FC236}">
                <a16:creationId xmlns:a16="http://schemas.microsoft.com/office/drawing/2014/main" id="{4F60B738-2EBE-B3ED-9A6C-E1E80C27D4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01486" y="216769"/>
            <a:ext cx="13193486" cy="999406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B8177F4-CF26-849B-679D-2964F66F9D0F}"/>
              </a:ext>
            </a:extLst>
          </p:cNvPr>
          <p:cNvSpPr/>
          <p:nvPr/>
        </p:nvSpPr>
        <p:spPr>
          <a:xfrm>
            <a:off x="-135429" y="5007428"/>
            <a:ext cx="11974286" cy="52034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B6AE09-9ADA-6B98-1F5C-083B96AAB2B0}"/>
              </a:ext>
            </a:extLst>
          </p:cNvPr>
          <p:cNvSpPr/>
          <p:nvPr/>
        </p:nvSpPr>
        <p:spPr>
          <a:xfrm>
            <a:off x="6313714" y="213640"/>
            <a:ext cx="6054857" cy="51653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544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7996ED-E4CD-E950-0F7B-2A8E9072C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oup of rectangular objects with text&#10;&#10;AI-generated content may be incorrect.">
            <a:extLst>
              <a:ext uri="{FF2B5EF4-FFF2-40B4-BE49-F238E27FC236}">
                <a16:creationId xmlns:a16="http://schemas.microsoft.com/office/drawing/2014/main" id="{0AD34A9B-2009-426F-3619-F7720B58C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01486" y="216769"/>
            <a:ext cx="13193486" cy="999406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1CEB81-D08F-9DD7-C2AA-AAEC7E284011}"/>
              </a:ext>
            </a:extLst>
          </p:cNvPr>
          <p:cNvSpPr/>
          <p:nvPr/>
        </p:nvSpPr>
        <p:spPr>
          <a:xfrm>
            <a:off x="-135429" y="5007428"/>
            <a:ext cx="11974286" cy="52034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166385-8F4E-C79C-83EC-C8A353F4FD9A}"/>
              </a:ext>
            </a:extLst>
          </p:cNvPr>
          <p:cNvSpPr/>
          <p:nvPr/>
        </p:nvSpPr>
        <p:spPr>
          <a:xfrm>
            <a:off x="9437914" y="213640"/>
            <a:ext cx="2930657" cy="51653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3606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9E22AF-245D-9E29-8CF9-BC84377A0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oup of rectangular objects with text&#10;&#10;AI-generated content may be incorrect.">
            <a:extLst>
              <a:ext uri="{FF2B5EF4-FFF2-40B4-BE49-F238E27FC236}">
                <a16:creationId xmlns:a16="http://schemas.microsoft.com/office/drawing/2014/main" id="{36E2F4A5-BE06-9878-78D2-DDF5504AFF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01486" y="216769"/>
            <a:ext cx="13193486" cy="999406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2FE450B-2F95-B2CB-2841-A746B5DD55F7}"/>
              </a:ext>
            </a:extLst>
          </p:cNvPr>
          <p:cNvSpPr/>
          <p:nvPr/>
        </p:nvSpPr>
        <p:spPr>
          <a:xfrm>
            <a:off x="-135429" y="5007428"/>
            <a:ext cx="11974286" cy="52034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5575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17B393-543A-1FD6-91EB-74F576BB1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oup of rectangular objects with text&#10;&#10;AI-generated content may be incorrect.">
            <a:extLst>
              <a:ext uri="{FF2B5EF4-FFF2-40B4-BE49-F238E27FC236}">
                <a16:creationId xmlns:a16="http://schemas.microsoft.com/office/drawing/2014/main" id="{3F4CFF5D-2272-1A5B-FBBC-03FFE80F02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78469" y="-4408714"/>
            <a:ext cx="13091598" cy="991688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3C772F8-D315-AB2F-0963-7F9502A3B2E8}"/>
              </a:ext>
            </a:extLst>
          </p:cNvPr>
          <p:cNvSpPr/>
          <p:nvPr/>
        </p:nvSpPr>
        <p:spPr>
          <a:xfrm>
            <a:off x="648343" y="-702129"/>
            <a:ext cx="11974286" cy="14042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45729A-E64A-8561-F7D1-16EDCA77793D}"/>
              </a:ext>
            </a:extLst>
          </p:cNvPr>
          <p:cNvSpPr/>
          <p:nvPr/>
        </p:nvSpPr>
        <p:spPr>
          <a:xfrm>
            <a:off x="3391542" y="1159328"/>
            <a:ext cx="8800458" cy="45393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0121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C0A4A4-8CAE-3834-89B7-95F8AEB8D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oup of rectangular objects with text&#10;&#10;AI-generated content may be incorrect.">
            <a:extLst>
              <a:ext uri="{FF2B5EF4-FFF2-40B4-BE49-F238E27FC236}">
                <a16:creationId xmlns:a16="http://schemas.microsoft.com/office/drawing/2014/main" id="{DF3164EF-0C47-2F6C-A884-AC4ADF944B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78469" y="-4408714"/>
            <a:ext cx="13091598" cy="991688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A7290D-984B-C622-A4B0-D1F5037F84C9}"/>
              </a:ext>
            </a:extLst>
          </p:cNvPr>
          <p:cNvSpPr/>
          <p:nvPr/>
        </p:nvSpPr>
        <p:spPr>
          <a:xfrm>
            <a:off x="648343" y="-702129"/>
            <a:ext cx="11974286" cy="14042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79C8D1E-3438-EF4D-FA28-BA08D3B0396B}"/>
              </a:ext>
            </a:extLst>
          </p:cNvPr>
          <p:cNvSpPr/>
          <p:nvPr/>
        </p:nvSpPr>
        <p:spPr>
          <a:xfrm>
            <a:off x="6694714" y="1159328"/>
            <a:ext cx="5497286" cy="45393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18338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3ECA79-75D4-163A-3A89-7DD03AA1D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oup of rectangular objects with text&#10;&#10;AI-generated content may be incorrect.">
            <a:extLst>
              <a:ext uri="{FF2B5EF4-FFF2-40B4-BE49-F238E27FC236}">
                <a16:creationId xmlns:a16="http://schemas.microsoft.com/office/drawing/2014/main" id="{F56923AE-43A9-650D-CF36-FFE47F3347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78469" y="-4408714"/>
            <a:ext cx="13091598" cy="991688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72D6D29-77AA-5D6C-0B89-2D56D9E2DC0E}"/>
              </a:ext>
            </a:extLst>
          </p:cNvPr>
          <p:cNvSpPr/>
          <p:nvPr/>
        </p:nvSpPr>
        <p:spPr>
          <a:xfrm>
            <a:off x="648343" y="-702129"/>
            <a:ext cx="11974286" cy="14042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9A7ED8-D561-9971-2575-D77881CB9B66}"/>
              </a:ext>
            </a:extLst>
          </p:cNvPr>
          <p:cNvSpPr/>
          <p:nvPr/>
        </p:nvSpPr>
        <p:spPr>
          <a:xfrm>
            <a:off x="9808028" y="1159328"/>
            <a:ext cx="2383971" cy="45393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04005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D9CA36-4683-4363-F79F-15DFA9890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oup of rectangular objects with text&#10;&#10;AI-generated content may be incorrect.">
            <a:extLst>
              <a:ext uri="{FF2B5EF4-FFF2-40B4-BE49-F238E27FC236}">
                <a16:creationId xmlns:a16="http://schemas.microsoft.com/office/drawing/2014/main" id="{BB0AAC3D-D898-E078-A604-3ED9A94345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78469" y="-4408714"/>
            <a:ext cx="13091598" cy="991688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2B4E62F-BC0C-0131-E1D7-5ECBF8D4D2BE}"/>
              </a:ext>
            </a:extLst>
          </p:cNvPr>
          <p:cNvSpPr/>
          <p:nvPr/>
        </p:nvSpPr>
        <p:spPr>
          <a:xfrm>
            <a:off x="648343" y="-702129"/>
            <a:ext cx="11974286" cy="14042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9469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diagram of a number and a diagram of a number&#10;&#10;AI-generated content may be incorrect.">
            <a:extLst>
              <a:ext uri="{FF2B5EF4-FFF2-40B4-BE49-F238E27FC236}">
                <a16:creationId xmlns:a16="http://schemas.microsoft.com/office/drawing/2014/main" id="{ED88B915-55BD-598E-EBFC-96D70E4576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764668"/>
            <a:ext cx="11277600" cy="532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176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0F91B560-92AA-6B34-4378-D8A5CFEAF9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366" y="1042905"/>
            <a:ext cx="10877268" cy="3596002"/>
          </a:xfrm>
        </p:spPr>
      </p:pic>
    </p:spTree>
    <p:extLst>
      <p:ext uri="{BB962C8B-B14F-4D97-AF65-F5344CB8AC3E}">
        <p14:creationId xmlns:p14="http://schemas.microsoft.com/office/powerpoint/2010/main" val="37173063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A08AD-5F83-08D3-509F-21EB54166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– time complexity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CF8E77-8AA2-729C-32D4-0B5A40D07C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Divide: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CF8E77-8AA2-729C-32D4-0B5A40D07C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19012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0FD23-26B7-30F0-96AC-3305A9F05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5ED37-1932-D31D-1CFC-B6CDB828A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– time complexity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099673D-F876-2A80-343A-2734B22225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Divide: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r>
                  <a:rPr lang="en-US" dirty="0"/>
                  <a:t>Conquer: 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/2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099673D-F876-2A80-343A-2734B22225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11382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8C24E-349E-2E9A-0F16-70353343E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6422B-C716-F2E3-ED29-76DD498AC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– time complexity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392E24-A14E-4BAB-C035-2D27AC88EB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Divide: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r>
                  <a:rPr lang="en-US" dirty="0"/>
                  <a:t>Conquer: 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/2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Combine: 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392E24-A14E-4BAB-C035-2D27AC88EB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58917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48B49-6135-48B6-AC0F-97E5D8D1F0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9DF58D6-6925-3175-9956-E303EE8A885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329766" y="1146412"/>
                <a:ext cx="9014348" cy="2402006"/>
              </a:xfrm>
            </p:spPr>
            <p:txBody>
              <a:bodyPr vert="horz" lIns="91440" tIns="45720" rIns="91440" bIns="45720" rtlCol="0" anchor="b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𝑇</m:t>
                      </m:r>
                      <m:d>
                        <m:dPr>
                          <m:ctrlPr>
                            <a:rPr lang="en-US" sz="4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</m:ctrlPr>
                        </m:dPr>
                        <m:e>
                          <m:r>
                            <a:rPr lang="en-US" sz="4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  <m:t>𝑛</m:t>
                          </m:r>
                        </m:e>
                      </m:d>
                      <m:r>
                        <a:rPr lang="en-US" sz="480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480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Θ</m:t>
                      </m:r>
                      <m:d>
                        <m:dPr>
                          <m:ctrlPr>
                            <a:rPr lang="en-US" sz="4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</m:ctrlPr>
                        </m:dPr>
                        <m:e>
                          <m:r>
                            <a:rPr lang="en-US" sz="4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  <m:t>1</m:t>
                          </m:r>
                        </m:e>
                      </m:d>
                      <m:r>
                        <a:rPr lang="en-US" sz="48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+</m:t>
                      </m:r>
                      <m:r>
                        <a:rPr lang="en-US" sz="48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2</m:t>
                      </m:r>
                      <m:r>
                        <a:rPr lang="en-US" sz="48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𝑇</m:t>
                      </m:r>
                      <m:d>
                        <m:dPr>
                          <m:ctrlPr>
                            <a:rPr lang="en-US" sz="4800" b="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4800" b="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  <a:cs typeface="+mj-cs"/>
                                </a:rPr>
                              </m:ctrlPr>
                            </m:fPr>
                            <m:num>
                              <m:r>
                                <a:rPr lang="en-US" sz="4800" b="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  <a:cs typeface="+mj-cs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4800" b="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  <a:cs typeface="+mj-cs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48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480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Θ</m:t>
                      </m:r>
                      <m:d>
                        <m:dPr>
                          <m:ctrlPr>
                            <a:rPr lang="en-US" sz="4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</m:ctrlPr>
                        </m:dPr>
                        <m:e>
                          <m:r>
                            <a:rPr lang="en-US" sz="4800" b="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4800" kern="1200" dirty="0">
                  <a:solidFill>
                    <a:schemeClr val="tx1"/>
                  </a:solidFill>
                  <a:latin typeface="+mj-lt"/>
                  <a:ea typeface="+mj-ea"/>
                  <a:cs typeface="+mj-cs"/>
                </a:endParaRP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9DF58D6-6925-3175-9956-E303EE8A88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329766" y="1146412"/>
                <a:ext cx="9014348" cy="240200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8" y="4374554"/>
            <a:ext cx="12192007" cy="248344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40655" y="4374554"/>
            <a:ext cx="4051344" cy="2483446"/>
          </a:xfrm>
          <a:prstGeom prst="rect">
            <a:avLst/>
          </a:prstGeom>
          <a:gradFill>
            <a:gsLst>
              <a:gs pos="4000">
                <a:schemeClr val="accent1">
                  <a:alpha val="21000"/>
                </a:schemeClr>
              </a:gs>
              <a:gs pos="83000">
                <a:schemeClr val="accent1">
                  <a:lumMod val="50000"/>
                  <a:alpha val="61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56AC18-FB41-4977-8B0C-F5082335A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4379429"/>
            <a:ext cx="12191984" cy="1953928"/>
          </a:xfrm>
          <a:prstGeom prst="rect">
            <a:avLst/>
          </a:prstGeom>
          <a:gradFill>
            <a:gsLst>
              <a:gs pos="32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alpha val="5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8" y="4380927"/>
            <a:ext cx="12192000" cy="2019443"/>
          </a:xfrm>
          <a:prstGeom prst="rect">
            <a:avLst/>
          </a:prstGeom>
          <a:gradFill>
            <a:gsLst>
              <a:gs pos="32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45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5BAA13-0A8B-EA38-380A-CA35585889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29765" y="4892722"/>
            <a:ext cx="6387155" cy="107817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The time complexity of Merge Sort</a:t>
            </a:r>
          </a:p>
        </p:txBody>
      </p:sp>
    </p:spTree>
    <p:extLst>
      <p:ext uri="{BB962C8B-B14F-4D97-AF65-F5344CB8AC3E}">
        <p14:creationId xmlns:p14="http://schemas.microsoft.com/office/powerpoint/2010/main" val="31767878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096048-EECB-C985-081A-70AF5B4BB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C099823-9BB0-DED3-8FE8-BB14AE1418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7242437-B09A-DC89-E617-D44A8033809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329766" y="1146412"/>
                <a:ext cx="9014348" cy="2402006"/>
              </a:xfrm>
            </p:spPr>
            <p:txBody>
              <a:bodyPr vert="horz" lIns="91440" tIns="45720" rIns="91440" bIns="45720" rtlCol="0" anchor="b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𝑇</m:t>
                      </m:r>
                      <m:d>
                        <m:dPr>
                          <m:ctrlPr>
                            <a:rPr lang="en-US" sz="4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</m:ctrlPr>
                        </m:dPr>
                        <m:e>
                          <m:r>
                            <a:rPr lang="en-US" sz="4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  <m:t>𝑛</m:t>
                          </m:r>
                        </m:e>
                      </m:d>
                      <m:r>
                        <a:rPr lang="en-US" sz="480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=</m:t>
                      </m:r>
                      <m:r>
                        <a:rPr lang="en-US" sz="48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2</m:t>
                      </m:r>
                      <m:r>
                        <a:rPr lang="en-US" sz="48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𝑇</m:t>
                      </m:r>
                      <m:d>
                        <m:dPr>
                          <m:ctrlPr>
                            <a:rPr lang="en-US" sz="4800" b="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4800" b="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  <a:cs typeface="+mj-cs"/>
                                </a:rPr>
                              </m:ctrlPr>
                            </m:fPr>
                            <m:num>
                              <m:r>
                                <a:rPr lang="en-US" sz="4800" b="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  <a:cs typeface="+mj-cs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4800" b="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  <a:cs typeface="+mj-cs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48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480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Θ</m:t>
                      </m:r>
                      <m:d>
                        <m:dPr>
                          <m:ctrlPr>
                            <a:rPr lang="en-US" sz="4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</m:ctrlPr>
                        </m:dPr>
                        <m:e>
                          <m:r>
                            <a:rPr lang="en-US" sz="4800" b="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4800" kern="1200" dirty="0">
                  <a:solidFill>
                    <a:schemeClr val="tx1"/>
                  </a:solidFill>
                  <a:latin typeface="+mj-lt"/>
                  <a:ea typeface="+mj-ea"/>
                  <a:cs typeface="+mj-cs"/>
                </a:endParaRP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7242437-B09A-DC89-E617-D44A803380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329766" y="1146412"/>
                <a:ext cx="9014348" cy="240200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4041DA22-B5F4-87A3-258D-194029C7D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8" y="4374554"/>
            <a:ext cx="12192007" cy="248344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C90A71-80B3-A86D-22DB-211A26AF08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40655" y="4374554"/>
            <a:ext cx="4051344" cy="2483446"/>
          </a:xfrm>
          <a:prstGeom prst="rect">
            <a:avLst/>
          </a:prstGeom>
          <a:gradFill>
            <a:gsLst>
              <a:gs pos="4000">
                <a:schemeClr val="accent1">
                  <a:alpha val="21000"/>
                </a:schemeClr>
              </a:gs>
              <a:gs pos="83000">
                <a:schemeClr val="accent1">
                  <a:lumMod val="50000"/>
                  <a:alpha val="61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19843A-F538-9890-DDAA-E2DEE966BB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4379429"/>
            <a:ext cx="12191984" cy="1953928"/>
          </a:xfrm>
          <a:prstGeom prst="rect">
            <a:avLst/>
          </a:prstGeom>
          <a:gradFill>
            <a:gsLst>
              <a:gs pos="32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alpha val="5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091B6B9-B9FA-7FCA-B51F-718C8ADA2D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8" y="4380927"/>
            <a:ext cx="12192000" cy="2019443"/>
          </a:xfrm>
          <a:prstGeom prst="rect">
            <a:avLst/>
          </a:prstGeom>
          <a:gradFill>
            <a:gsLst>
              <a:gs pos="32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45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74197-349A-1108-15CB-C2BF4AB968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29765" y="4892722"/>
            <a:ext cx="6387155" cy="107817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</a:rPr>
              <a:t>The time complexity of Merge Sort</a:t>
            </a:r>
          </a:p>
        </p:txBody>
      </p:sp>
    </p:spTree>
    <p:extLst>
      <p:ext uri="{BB962C8B-B14F-4D97-AF65-F5344CB8AC3E}">
        <p14:creationId xmlns:p14="http://schemas.microsoft.com/office/powerpoint/2010/main" val="22496601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oup of children coloring on a large paper&#10;&#10;AI-generated content may be incorrect.">
            <a:extLst>
              <a:ext uri="{FF2B5EF4-FFF2-40B4-BE49-F238E27FC236}">
                <a16:creationId xmlns:a16="http://schemas.microsoft.com/office/drawing/2014/main" id="{08FC7698-CE7F-274E-1DE4-53CC5E61FE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04DDDE-A891-5CB7-2042-C751120F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It’s drawing time!</a:t>
            </a:r>
          </a:p>
        </p:txBody>
      </p:sp>
    </p:spTree>
    <p:extLst>
      <p:ext uri="{BB962C8B-B14F-4D97-AF65-F5344CB8AC3E}">
        <p14:creationId xmlns:p14="http://schemas.microsoft.com/office/powerpoint/2010/main" val="3200942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762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B84D8A-37A0-19E7-9C0D-920E2E58D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Recursion tree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Content Placeholder 4" descr="A diagram of a triangle&#10;&#10;AI-generated content may be incorrect.">
            <a:extLst>
              <a:ext uri="{FF2B5EF4-FFF2-40B4-BE49-F238E27FC236}">
                <a16:creationId xmlns:a16="http://schemas.microsoft.com/office/drawing/2014/main" id="{58A03BE7-58E8-7C0C-2D5D-72A048051D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356" y="649646"/>
            <a:ext cx="6408836" cy="5407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4115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triangle&#10;&#10;AI-generated content may be incorrect.">
            <a:extLst>
              <a:ext uri="{FF2B5EF4-FFF2-40B4-BE49-F238E27FC236}">
                <a16:creationId xmlns:a16="http://schemas.microsoft.com/office/drawing/2014/main" id="{9C6DFC32-A211-3756-E395-D5075B7F65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3885" y="643466"/>
            <a:ext cx="7684229" cy="557106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9D4E76D-BAB9-10AB-D321-738A6570757D}"/>
              </a:ext>
            </a:extLst>
          </p:cNvPr>
          <p:cNvSpPr/>
          <p:nvPr/>
        </p:nvSpPr>
        <p:spPr>
          <a:xfrm>
            <a:off x="6316400" y="2936872"/>
            <a:ext cx="3265714" cy="31024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E47AF50-3925-71C5-158A-9E81E30AD406}"/>
                  </a:ext>
                </a:extLst>
              </p:cNvPr>
              <p:cNvSpPr txBox="1"/>
              <p:nvPr/>
            </p:nvSpPr>
            <p:spPr>
              <a:xfrm>
                <a:off x="7217228" y="3121929"/>
                <a:ext cx="118102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/2)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E47AF50-3925-71C5-158A-9E81E30AD4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7228" y="3121929"/>
                <a:ext cx="1181029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38980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C48F51-9782-A155-2724-C4339CF5D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triangle&#10;&#10;AI-generated content may be incorrect.">
            <a:extLst>
              <a:ext uri="{FF2B5EF4-FFF2-40B4-BE49-F238E27FC236}">
                <a16:creationId xmlns:a16="http://schemas.microsoft.com/office/drawing/2014/main" id="{F8C4B855-C079-CEFF-B760-0C3E965875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3885" y="643466"/>
            <a:ext cx="7684229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7991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house with arrows&#10;&#10;AI-generated content may be incorrect.">
            <a:extLst>
              <a:ext uri="{FF2B5EF4-FFF2-40B4-BE49-F238E27FC236}">
                <a16:creationId xmlns:a16="http://schemas.microsoft.com/office/drawing/2014/main" id="{B128D4BE-A01D-AD3F-B9A9-0B4BEEB16E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9000" y="407700"/>
            <a:ext cx="6713999" cy="6042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3721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BF6398-7D7D-D3C1-B044-A83877379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  <a:t>Exercises</a:t>
            </a:r>
          </a:p>
        </p:txBody>
      </p:sp>
    </p:spTree>
    <p:extLst>
      <p:ext uri="{BB962C8B-B14F-4D97-AF65-F5344CB8AC3E}">
        <p14:creationId xmlns:p14="http://schemas.microsoft.com/office/powerpoint/2010/main" val="8282688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BF8DC617-078C-4B85-9017-80E8853DE2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806871"/>
            <a:ext cx="10905066" cy="324425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82BAD90-3651-D778-462D-FC6D987CD625}"/>
              </a:ext>
            </a:extLst>
          </p:cNvPr>
          <p:cNvSpPr/>
          <p:nvPr/>
        </p:nvSpPr>
        <p:spPr>
          <a:xfrm>
            <a:off x="5791200" y="2253343"/>
            <a:ext cx="5246914" cy="402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4C014B-AF3A-07AC-BA72-31CF831027B5}"/>
              </a:ext>
            </a:extLst>
          </p:cNvPr>
          <p:cNvSpPr/>
          <p:nvPr/>
        </p:nvSpPr>
        <p:spPr>
          <a:xfrm>
            <a:off x="468086" y="2574471"/>
            <a:ext cx="5246914" cy="402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1606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3FDCE4-5CDC-EBAB-E6F8-77E4694DF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7689" y="3071183"/>
            <a:ext cx="9910296" cy="259002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Master theorem (method)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2315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2AFE5D4-11C9-7C9A-E339-38CC6122974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987689" y="3071183"/>
                <a:ext cx="9910296" cy="2590027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𝑇</m:t>
                      </m:r>
                      <m:d>
                        <m:dPr>
                          <m:ctrlPr>
                            <a:rPr lang="en-US" sz="8000" b="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</m:ctrlPr>
                        </m:dPr>
                        <m:e>
                          <m:r>
                            <a:rPr lang="en-US" sz="8000" b="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  <m:t>𝑛</m:t>
                          </m:r>
                        </m:e>
                      </m:d>
                      <m:r>
                        <a:rPr lang="en-US" sz="80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=</m:t>
                      </m:r>
                      <m:r>
                        <a:rPr lang="en-US" sz="80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𝑎𝑇</m:t>
                      </m:r>
                      <m:d>
                        <m:dPr>
                          <m:ctrlPr>
                            <a:rPr lang="en-US" sz="8000" b="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8000" b="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  <a:cs typeface="+mj-cs"/>
                                </a:rPr>
                              </m:ctrlPr>
                            </m:fPr>
                            <m:num>
                              <m:r>
                                <a:rPr lang="en-US" sz="8000" b="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  <a:cs typeface="+mj-cs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8000" b="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  <a:cs typeface="+mj-cs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  <m:r>
                        <a:rPr lang="en-US" sz="80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+</m:t>
                      </m:r>
                      <m:r>
                        <a:rPr lang="en-US" sz="80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𝑓</m:t>
                      </m:r>
                      <m:r>
                        <a:rPr lang="en-US" sz="80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(</m:t>
                      </m:r>
                      <m:r>
                        <a:rPr lang="en-US" sz="80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𝑛</m:t>
                      </m:r>
                      <m:r>
                        <a:rPr lang="en-US" sz="80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)</m:t>
                      </m:r>
                    </m:oMath>
                  </m:oMathPara>
                </a14:m>
                <a:endParaRPr lang="en-US" sz="8000" kern="1200" dirty="0">
                  <a:solidFill>
                    <a:schemeClr val="tx1"/>
                  </a:solidFill>
                  <a:latin typeface="+mj-lt"/>
                  <a:ea typeface="+mj-ea"/>
                  <a:cs typeface="+mj-cs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2AFE5D4-11C9-7C9A-E339-38CC612297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987689" y="3071183"/>
                <a:ext cx="9910296" cy="259002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0081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4660FD-FF35-104A-BDC2-2632EACC7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5BCC521-1567-F320-B4D4-AE593C0CC83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043631" y="809898"/>
                <a:ext cx="9942716" cy="1554480"/>
              </a:xfrm>
            </p:spPr>
            <p:txBody>
              <a:bodyPr anchor="ctr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48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8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4800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𝑎𝑇</m:t>
                      </m:r>
                      <m:d>
                        <m:dPr>
                          <m:ctrlPr>
                            <a:rPr lang="en-US" sz="48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48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800" b="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4800" b="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  <m:r>
                        <a:rPr lang="en-US" sz="4800" b="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8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5BCC521-1567-F320-B4D4-AE593C0CC8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043631" y="809898"/>
                <a:ext cx="9942716" cy="155448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7D87F6-3930-8A41-19E2-2D1F58BFDC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45028" y="3017522"/>
                <a:ext cx="9941319" cy="3124658"/>
              </a:xfrm>
            </p:spPr>
            <p:txBody>
              <a:bodyPr anchor="ctr">
                <a:norm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2400" b="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&gt;0 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7D87F6-3930-8A41-19E2-2D1F58BFDC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45028" y="3017522"/>
                <a:ext cx="9941319" cy="3124658"/>
              </a:xfrm>
              <a:blipFill>
                <a:blip r:embed="rId3"/>
                <a:stretch>
                  <a:fillRect l="-7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85698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2F7414-7556-0B91-923C-D600C79BB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7EFBDAC-EAE0-AD0E-96C1-D1CFBCEBF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A130E31-A683-4FF0-6625-BC81ACFC94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54EF5B4-9D7C-E7C0-2274-7F0F7039CE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C5DE9ED-76C0-45EA-0B76-9E1E900358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D3280E2-CD38-6F40-9C8E-984430D1FF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8F46736D-ED8D-5E43-82BB-49131C6BC7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B5C372E-DE33-F450-1E95-5B2CB94BA9A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043631" y="809898"/>
                <a:ext cx="9942716" cy="1554480"/>
              </a:xfrm>
            </p:spPr>
            <p:txBody>
              <a:bodyPr anchor="ctr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48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8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4800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𝑎𝑇</m:t>
                      </m:r>
                      <m:d>
                        <m:dPr>
                          <m:ctrlPr>
                            <a:rPr lang="en-US" sz="48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48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800" b="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4800" b="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  <m:r>
                        <a:rPr lang="en-US" sz="4800" b="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80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B5C372E-DE33-F450-1E95-5B2CB94BA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043631" y="809898"/>
                <a:ext cx="9942716" cy="155448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55754D-148E-FBD2-60B0-919EFB3286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45028" y="3017522"/>
                <a:ext cx="9941319" cy="3124658"/>
              </a:xfrm>
            </p:spPr>
            <p:txBody>
              <a:bodyPr anchor="ctr">
                <a:norm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2400" b="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&gt;0 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US" sz="2400" b="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2400" b="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dirty="0"/>
                  <a:t> is called the “driving function”</a:t>
                </a:r>
              </a:p>
              <a:p>
                <a:pPr lvl="1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𝑑𝑖𝑣𝑖𝑑𝑒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𝑐𝑜𝑚𝑏𝑖𝑛𝑒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55754D-148E-FBD2-60B0-919EFB3286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45028" y="3017522"/>
                <a:ext cx="9941319" cy="3124658"/>
              </a:xfrm>
              <a:blipFill>
                <a:blip r:embed="rId3"/>
                <a:stretch>
                  <a:fillRect l="-7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0832668-34EF-037C-9598-2BD5B481B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92304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7ED6BC-900B-3E39-10BA-FE1B66632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93921C2-03F0-6EB5-5B91-69C2653292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C0C60BA-D9E0-5AD5-203A-40E88BCBF6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BB12854-8B29-A786-2A62-8BDFACFB73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5128D97-21C6-B2D4-3B0B-5C158AC469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25B366F-1319-FB3B-ADB8-712C0D95F3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61FCFBAA-A554-2C69-83A0-0308C599D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38AD739-54EF-1497-184C-6BA7FFFB364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043631" y="809898"/>
                <a:ext cx="9942716" cy="1554480"/>
              </a:xfrm>
            </p:spPr>
            <p:txBody>
              <a:bodyPr anchor="ctr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48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8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4800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𝑎𝑇</m:t>
                      </m:r>
                      <m:d>
                        <m:dPr>
                          <m:ctrlPr>
                            <a:rPr lang="en-US" sz="48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48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800" b="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4800" b="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  <m:r>
                        <a:rPr lang="en-US" sz="4800" b="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80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38AD739-54EF-1497-184C-6BA7FFFB36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043631" y="809898"/>
                <a:ext cx="9942716" cy="155448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97085E-9470-6FDB-4D49-CF29B90A15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45028" y="3017522"/>
                <a:ext cx="9941319" cy="3124658"/>
              </a:xfrm>
            </p:spPr>
            <p:txBody>
              <a:bodyPr anchor="ctr">
                <a:norm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2400" b="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&gt;0 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US" sz="2400" b="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2400" b="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dirty="0"/>
                  <a:t> is called the “driving function”</a:t>
                </a:r>
              </a:p>
              <a:p>
                <a:pPr lvl="1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𝑑𝑖𝑣𝑖𝑑𝑒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𝑐𝑜𝑚𝑏𝑖𝑛𝑒</m:t>
                    </m:r>
                  </m:oMath>
                </a14:m>
                <a:endParaRPr lang="en-US" b="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sz="24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400" b="0" dirty="0"/>
                  <a:t> is called the “watershed function”</a:t>
                </a: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97085E-9470-6FDB-4D49-CF29B90A15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45028" y="3017522"/>
                <a:ext cx="9941319" cy="3124658"/>
              </a:xfrm>
              <a:blipFill>
                <a:blip r:embed="rId3"/>
                <a:stretch>
                  <a:fillRect l="-7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696A211-37E4-EC8C-B192-A729DC5C5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0089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CD4AF2-A390-FF41-9283-261B0D161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7689" y="3071183"/>
            <a:ext cx="9910296" cy="259002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3 Special cases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980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A6EB09-3726-8041-7CC7-BF67F9B26F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𝑠𝑢𝑐h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𝑡h𝑎𝑡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𝑡h𝑒𝑛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A6EB09-3726-8041-7CC7-BF67F9B26F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AD5A47B-F489-C409-3799-8DB001EF27FF}"/>
              </a:ext>
            </a:extLst>
          </p:cNvPr>
          <p:cNvSpPr/>
          <p:nvPr/>
        </p:nvSpPr>
        <p:spPr>
          <a:xfrm>
            <a:off x="2166257" y="1796143"/>
            <a:ext cx="9481457" cy="6422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D06191-F35F-F974-1526-86BC4980945D}"/>
              </a:ext>
            </a:extLst>
          </p:cNvPr>
          <p:cNvSpPr txBox="1"/>
          <p:nvPr/>
        </p:nvSpPr>
        <p:spPr>
          <a:xfrm>
            <a:off x="455532" y="533400"/>
            <a:ext cx="1710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Case 1</a:t>
            </a:r>
          </a:p>
        </p:txBody>
      </p:sp>
    </p:spTree>
    <p:extLst>
      <p:ext uri="{BB962C8B-B14F-4D97-AF65-F5344CB8AC3E}">
        <p14:creationId xmlns:p14="http://schemas.microsoft.com/office/powerpoint/2010/main" val="1706540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C72AA-FAD6-E8E2-AD66-5247645DD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75DBAC-0716-9C36-5F26-FFC87FCDFD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𝑠𝑢𝑐h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𝑡h𝑎𝑡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𝑡h𝑒𝑛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75DBAC-0716-9C36-5F26-FFC87FCDFD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22E19DB-8186-72F5-5237-5C5E510E5FF7}"/>
              </a:ext>
            </a:extLst>
          </p:cNvPr>
          <p:cNvSpPr/>
          <p:nvPr/>
        </p:nvSpPr>
        <p:spPr>
          <a:xfrm>
            <a:off x="7119258" y="1796143"/>
            <a:ext cx="4528456" cy="6422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D10823-5E0A-7994-6BB9-2E92E4F8C7C6}"/>
              </a:ext>
            </a:extLst>
          </p:cNvPr>
          <p:cNvSpPr txBox="1"/>
          <p:nvPr/>
        </p:nvSpPr>
        <p:spPr>
          <a:xfrm>
            <a:off x="455532" y="533400"/>
            <a:ext cx="1710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Case 1</a:t>
            </a:r>
          </a:p>
        </p:txBody>
      </p:sp>
    </p:spTree>
    <p:extLst>
      <p:ext uri="{BB962C8B-B14F-4D97-AF65-F5344CB8AC3E}">
        <p14:creationId xmlns:p14="http://schemas.microsoft.com/office/powerpoint/2010/main" val="29420807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6BCC6-C321-969C-4FC1-E945D29CA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EE1439-1A03-DB91-C1CD-6DEDE240B7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𝑠𝑢𝑐h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𝑡h𝑎𝑡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𝑡h𝑒𝑛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EE1439-1A03-DB91-C1CD-6DEDE240B7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1B8D136D-4AD7-881A-2D0C-8354DF061FF3}"/>
              </a:ext>
            </a:extLst>
          </p:cNvPr>
          <p:cNvSpPr txBox="1"/>
          <p:nvPr/>
        </p:nvSpPr>
        <p:spPr>
          <a:xfrm>
            <a:off x="455532" y="533400"/>
            <a:ext cx="1710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Case 1</a:t>
            </a:r>
          </a:p>
        </p:txBody>
      </p:sp>
    </p:spTree>
    <p:extLst>
      <p:ext uri="{BB962C8B-B14F-4D97-AF65-F5344CB8AC3E}">
        <p14:creationId xmlns:p14="http://schemas.microsoft.com/office/powerpoint/2010/main" val="3887071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9095C1F4-AE7F-44E4-8693-40D3D68311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A11014-52E1-9D14-8823-4FF909EA6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42723947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9F547B1-CD64-96A6-42DE-87150DCCB03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=9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9F547B1-CD64-96A6-42DE-87150DCCB0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49665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42537-A801-4EA4-E070-F82FC1FE0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07A15C-EC8A-0EA5-3853-BA26CC21C74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=9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07A15C-EC8A-0EA5-3853-BA26CC21C7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061D03-2145-CB34-1211-3BCFDAB070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=9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b="0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061D03-2145-CB34-1211-3BCFDAB070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99168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F3106-BB78-792E-695D-7F736C6C4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ABBB532-9AF1-2B16-9E91-BDC3133CD71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=9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ABBB532-9AF1-2B16-9E91-BDC3133CD7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6D0333-0C39-E0F5-09E1-5E5545AC8B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=9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6D0333-0C39-E0F5-09E1-5E5545AC8B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84766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72291-74C0-7ABA-ABA5-D438B1521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010C37C-1DAA-A3D5-B1B0-041AA7CAAAA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=9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010C37C-1DAA-A3D5-B1B0-041AA7CAAA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77F42B-86EE-12C4-1825-E8A1899254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=9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endParaRPr lang="en-US" b="0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77F42B-86EE-12C4-1825-E8A1899254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43655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1D9EF-20FF-735F-4AD6-214702F88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4F2013F-A0E6-84B9-60BB-C0B5320ED46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=9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4F2013F-A0E6-84B9-60BB-C0B5320ED4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C30543-FBEC-F620-1F42-566126FDB1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=9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endParaRPr lang="en-US" b="0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C30543-FBEC-F620-1F42-566126FDB1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29B0F2-9539-7786-291E-DE185BE5978A}"/>
                  </a:ext>
                </a:extLst>
              </p:cNvPr>
              <p:cNvSpPr txBox="1"/>
              <p:nvPr/>
            </p:nvSpPr>
            <p:spPr>
              <a:xfrm>
                <a:off x="707409" y="4001294"/>
                <a:ext cx="44641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Therefore,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3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29B0F2-9539-7786-291E-DE185BE59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409" y="4001294"/>
                <a:ext cx="4464171" cy="584775"/>
              </a:xfrm>
              <a:prstGeom prst="rect">
                <a:avLst/>
              </a:prstGeom>
              <a:blipFill>
                <a:blip r:embed="rId4"/>
                <a:stretch>
                  <a:fillRect l="-3415"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21172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0087-F42F-236B-F6B2-4ABD34E97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07D92C-8226-15B5-17B2-9C6885DDCD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07D92C-8226-15B5-17B2-9C6885DDCD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39875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6CD82-D26B-182A-6205-EF68B552B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D1ED0-844C-B67A-48A6-57F549C54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DB0967-BAFD-EC08-67FD-B152171FE4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𝑠𝑢𝑐h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𝑡h𝑎𝑡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𝑙𝑔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DB0967-BAFD-EC08-67FD-B152171FE4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2790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ADBB4-DADA-B821-2988-51D2D5B00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FDF03-F293-B388-8902-84C32459B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673B20-B022-9199-F732-290E29DC6B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𝑠𝑢𝑐h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𝑡h𝑎𝑡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𝑙𝑔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𝑡h𝑒𝑛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𝑙𝑜𝑔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𝑙𝑔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673B20-B022-9199-F732-290E29DC6B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34179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DB3272-F072-D20F-976C-92A5308D4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2F091B43-834D-2807-8BF4-B8713B8FAB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90D44FA-CFDE-5206-42AF-E4E3ACCC3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584E099-9C0E-8BCE-4DEB-ACB3C62E93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0B4193D1-3B9B-E9AA-9BA4-920249A33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83A983C3-74EF-1E63-57F9-007CEAA9D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924A34-9679-4D23-A234-20DC9908E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223036436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945E2-1528-E5D6-9D62-8FFFC666F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7FBF81A-992F-32BB-4B9F-70EEF42990A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7FBF81A-992F-32BB-4B9F-70EEF42990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0CB5AE-89F2-0CCE-ABA4-612923EF19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=1 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36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0CB5AE-89F2-0CCE-ABA4-612923EF19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36516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E8F517C-302B-336B-D669-468EAF609AF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E8F517C-302B-336B-D669-468EAF609A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5422D9-3CD8-F97A-FB0B-37BE0FF31A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3/2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=1=</m:t>
                    </m:r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5422D9-3CD8-F97A-FB0B-37BE0FF31A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398719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8B518-49CC-4782-3466-44BB0E6D5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9170AB9-B157-BF54-505E-A900DEA00FD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9170AB9-B157-BF54-505E-A900DEA00F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E66A76-B89C-23B5-5C6B-04E7178F8B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3/2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=1=</m:t>
                    </m:r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=1=</m:t>
                    </m:r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𝑙𝑔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p>
                            </m:sSup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b="0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E66A76-B89C-23B5-5C6B-04E7178F8B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EAA5E7C-8D56-6C0A-8096-A360955D8DE5}"/>
                  </a:ext>
                </a:extLst>
              </p:cNvPr>
              <p:cNvSpPr txBox="1"/>
              <p:nvPr/>
            </p:nvSpPr>
            <p:spPr>
              <a:xfrm>
                <a:off x="707409" y="4001294"/>
                <a:ext cx="500233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Therefore,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3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𝑙𝑔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⁡(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EAA5E7C-8D56-6C0A-8096-A360955D8D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409" y="4001294"/>
                <a:ext cx="5002331" cy="584775"/>
              </a:xfrm>
              <a:prstGeom prst="rect">
                <a:avLst/>
              </a:prstGeom>
              <a:blipFill>
                <a:blip r:embed="rId4"/>
                <a:stretch>
                  <a:fillRect l="-3045"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583500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90FB994-6A6E-0F04-72D9-9FA123FBD1E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90FB994-6A6E-0F04-72D9-9FA123FBD1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99716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56DA8-DE28-A7C4-83D1-E85EDCA66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320E18A-0EB0-E6B8-31EF-E108E840041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320E18A-0EB0-E6B8-31EF-E108E84004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624C0A8-3F9B-DBF8-3BC8-456C0B5C15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257" y="2820615"/>
            <a:ext cx="11669486" cy="1216769"/>
          </a:xfrm>
        </p:spPr>
      </p:pic>
    </p:spTree>
    <p:extLst>
      <p:ext uri="{BB962C8B-B14F-4D97-AF65-F5344CB8AC3E}">
        <p14:creationId xmlns:p14="http://schemas.microsoft.com/office/powerpoint/2010/main" val="198583001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8C3FE-901C-6AD1-D1EF-3D584B5AC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21EE9-A8E1-17EF-E77C-A809A97247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𝑖𝑓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∃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&gt;0, 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𝑠𝑢𝑐h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𝑡h𝑎𝑡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𝑙𝑜𝑔</m:t>
                                  </m:r>
                                </m:e>
                                <m:sub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21EE9-A8E1-17EF-E77C-A809A97247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143CA3A8-4156-A6A8-E7BB-0CE77774CED3}"/>
              </a:ext>
            </a:extLst>
          </p:cNvPr>
          <p:cNvSpPr txBox="1"/>
          <p:nvPr/>
        </p:nvSpPr>
        <p:spPr>
          <a:xfrm>
            <a:off x="455532" y="533400"/>
            <a:ext cx="1710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Case 3</a:t>
            </a:r>
          </a:p>
        </p:txBody>
      </p:sp>
    </p:spTree>
    <p:extLst>
      <p:ext uri="{BB962C8B-B14F-4D97-AF65-F5344CB8AC3E}">
        <p14:creationId xmlns:p14="http://schemas.microsoft.com/office/powerpoint/2010/main" val="321586187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D5EAD-BE2C-00F9-0439-DABA1B098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4A184B-6573-3424-E441-50DF5B4B4A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𝑖𝑓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 ∃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𝑠𝑢𝑐h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𝑡h𝑎𝑡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𝑙𝑜𝑔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3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𝑎𝑛𝑑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𝑖𝑓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∃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&lt;1, 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𝑠𝑢𝑐h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𝑡h𝑎𝑡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𝑎𝑓</m:t>
                    </m:r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𝑐𝑓</m:t>
                    </m:r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 </m:t>
                    </m:r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3200" dirty="0">
                    <a:ea typeface="Cambria Math" panose="02040503050406030204" pitchFamily="18" charset="0"/>
                  </a:rPr>
                  <a:t> </a:t>
                </a:r>
              </a:p>
              <a:p>
                <a:pPr marL="0" indent="0">
                  <a:buNone/>
                </a:pPr>
                <a:endParaRPr lang="en-US" sz="320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4A184B-6573-3424-E441-50DF5B4B4A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3EE2EF39-6FFE-4709-F498-93A0B302BE44}"/>
              </a:ext>
            </a:extLst>
          </p:cNvPr>
          <p:cNvSpPr txBox="1"/>
          <p:nvPr/>
        </p:nvSpPr>
        <p:spPr>
          <a:xfrm>
            <a:off x="455532" y="533400"/>
            <a:ext cx="1710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Case 3</a:t>
            </a:r>
          </a:p>
        </p:txBody>
      </p:sp>
    </p:spTree>
    <p:extLst>
      <p:ext uri="{BB962C8B-B14F-4D97-AF65-F5344CB8AC3E}">
        <p14:creationId xmlns:p14="http://schemas.microsoft.com/office/powerpoint/2010/main" val="82377702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BD60D-0D79-BB85-905F-BC139EB98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B4152F-A3F3-1F84-44E8-B115575B7F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𝑖𝑓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 ∃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𝑠𝑢𝑐h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𝑡h𝑎𝑡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𝑙𝑜𝑔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3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𝑎𝑛𝑑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𝑖𝑓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∃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&lt;1,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𝑠𝑢𝑐h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𝑡h𝑎𝑡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𝑎𝑓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𝑐𝑓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 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2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𝑡h𝑒𝑛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3200" i="1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3200" b="0" dirty="0"/>
              </a:p>
              <a:p>
                <a:pPr marL="0" indent="0">
                  <a:buNone/>
                </a:pPr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B4152F-A3F3-1F84-44E8-B115575B7F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DB47AF40-B8AE-0771-746C-E03F32247D00}"/>
              </a:ext>
            </a:extLst>
          </p:cNvPr>
          <p:cNvSpPr txBox="1"/>
          <p:nvPr/>
        </p:nvSpPr>
        <p:spPr>
          <a:xfrm>
            <a:off x="455532" y="533400"/>
            <a:ext cx="1710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Case 3</a:t>
            </a:r>
          </a:p>
        </p:txBody>
      </p:sp>
    </p:spTree>
    <p:extLst>
      <p:ext uri="{BB962C8B-B14F-4D97-AF65-F5344CB8AC3E}">
        <p14:creationId xmlns:p14="http://schemas.microsoft.com/office/powerpoint/2010/main" val="36720348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C0F541-A0AA-A6F4-FBE7-E5BFC4DCD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B2D54426-5A7D-CC0B-E7CB-22DBDFAC75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ADD3091-9707-3716-6DAA-4DCDBCE916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027C3BC-B6E2-587B-E6EA-7A176D0CCC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A58E90E-E0E0-10E2-EC83-69D0E903D0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C07AEF5F-5063-12BA-E17B-EE675CBBA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596D1-8822-83D5-3856-FD770BE83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172295785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6B6F91E-EED3-77C2-31ED-E585BDC9E55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6B6F91E-EED3-77C2-31ED-E585BDC9E5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6CA056-0EBD-9C51-0FBD-FB76440CBC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793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6CA056-0EBD-9C51-0FBD-FB76440CBC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891156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E1FFB-4241-1B28-9757-298AD0C5F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84266A8-5EBD-4101-9EF4-967AC180D87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84266A8-5EBD-4101-9EF4-967AC180D8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8FC057-2EA1-397F-5D1E-1FDCB689DA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793</m:t>
                            </m:r>
                          </m:sup>
                        </m:sSup>
                      </m:e>
                    </m:d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0.793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≈0.2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8FC057-2EA1-397F-5D1E-1FDCB689DA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234121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004DB-16E0-6EBD-269E-833DF8C2D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DC866F-4A36-A509-F67F-D0520644853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DC866F-4A36-A509-F67F-D052064485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0498FE-0054-3D66-4EAE-34E6FAAD5B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793</m:t>
                            </m:r>
                          </m:sup>
                        </m:sSup>
                      </m:e>
                    </m:d>
                  </m:oMath>
                </a14:m>
                <a:endParaRPr lang="en-US" b="0" dirty="0"/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0.793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≈0.2</m:t>
                    </m:r>
                  </m:oMath>
                </a14:m>
                <a:endParaRPr lang="en-US" dirty="0"/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𝑙𝑔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0498FE-0054-3D66-4EAE-34E6FAAD5B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4C4E6D8-628F-30C6-A46A-44AA34550652}"/>
                  </a:ext>
                </a:extLst>
              </p:cNvPr>
              <p:cNvSpPr txBox="1"/>
              <p:nvPr/>
            </p:nvSpPr>
            <p:spPr>
              <a:xfrm>
                <a:off x="838200" y="5187837"/>
                <a:ext cx="5626092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Therefore,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3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∗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𝑙𝑔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3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4C4E6D8-628F-30C6-A46A-44AA34550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187837"/>
                <a:ext cx="5626092" cy="584775"/>
              </a:xfrm>
              <a:prstGeom prst="rect">
                <a:avLst/>
              </a:prstGeom>
              <a:blipFill>
                <a:blip r:embed="rId4"/>
                <a:stretch>
                  <a:fillRect l="-2820"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712576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B0074-5025-9CD6-FFFC-12491C02F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Master method - recap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09A0C0-71EE-18A4-4A98-F63C91C01B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If the recurrence is in the form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called the “driving function”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/>
                  <a:t> is called the “watershed function”</a:t>
                </a:r>
              </a:p>
              <a:p>
                <a:r>
                  <a:rPr lang="en-US" dirty="0"/>
                  <a:t>3 Special cases make calculations easier: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𝑡h𝑒𝑛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</m:sup>
                        </m:sSup>
                      </m:e>
                    </m:d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𝑡h𝑒𝑛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𝑙𝑔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≪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𝑡h𝑒𝑛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09A0C0-71EE-18A4-4A98-F63C91C01B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807841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17E39-6851-E345-1E34-18BB8E6B0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Appendix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0982BA-7FD9-E6A8-8955-F7036DC432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When we write “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g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” In the context of </a:t>
                </a:r>
                <a:r>
                  <a:rPr lang="en-US" dirty="0" err="1"/>
                  <a:t>the“Master</a:t>
                </a:r>
                <a:r>
                  <a:rPr lang="en-US" dirty="0"/>
                  <a:t> Theorem”, we mean that </a:t>
                </a:r>
                <a:r>
                  <a:rPr lang="en-US" i="1" dirty="0"/>
                  <a:t>g</a:t>
                </a:r>
                <a:r>
                  <a:rPr lang="en-US" dirty="0"/>
                  <a:t> grows </a:t>
                </a:r>
                <a:r>
                  <a:rPr lang="en-US" i="1" dirty="0" err="1"/>
                  <a:t>polynomially</a:t>
                </a:r>
                <a:r>
                  <a:rPr lang="en-US" i="1" dirty="0"/>
                  <a:t> faster than f</a:t>
                </a:r>
              </a:p>
              <a:p>
                <a:pPr lvl="1"/>
                <a:r>
                  <a:rPr lang="en-US" i="1" dirty="0"/>
                  <a:t>Which means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i="1" dirty="0"/>
              </a:p>
              <a:p>
                <a:r>
                  <a:rPr lang="en-US" i="1" dirty="0"/>
                  <a:t>Examples:</a:t>
                </a: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1.99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0.01</m:t>
                        </m:r>
                      </m:sup>
                    </m:sSup>
                  </m:oMath>
                </a14:m>
                <a:r>
                  <a:rPr lang="en-US" dirty="0"/>
                  <a:t>, therefore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≫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1.99</m:t>
                        </m:r>
                      </m:sup>
                    </m:sSup>
                  </m:oMath>
                </a14:m>
                <a:endParaRPr lang="en-US" dirty="0"/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⁡(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therefore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0982BA-7FD9-E6A8-8955-F7036DC432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182800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604117-1F71-DE92-66CC-A2093F0D7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44F51C6-6E74-77C1-1F09-3A7322ADA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B56525E-1945-B8DC-783F-7AA098D348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A52E9D-03B8-9396-44B1-8993A6CA7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  <a:t>Exercises</a:t>
            </a:r>
          </a:p>
        </p:txBody>
      </p:sp>
    </p:spTree>
    <p:extLst>
      <p:ext uri="{BB962C8B-B14F-4D97-AF65-F5344CB8AC3E}">
        <p14:creationId xmlns:p14="http://schemas.microsoft.com/office/powerpoint/2010/main" val="9216773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1D0AF59-99C3-4251-AB9A-C966C6AD4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55405F-37A2-4869-9154-F8BE3BECE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A23279A0-2F8F-3EAE-D60C-BF219F2868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479720"/>
            <a:ext cx="10905066" cy="3898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66678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348</TotalTime>
  <Words>996</Words>
  <Application>Microsoft Office PowerPoint</Application>
  <PresentationFormat>Widescreen</PresentationFormat>
  <Paragraphs>117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6" baseType="lpstr">
      <vt:lpstr>Aptos</vt:lpstr>
      <vt:lpstr>Aptos Display</vt:lpstr>
      <vt:lpstr>Arial</vt:lpstr>
      <vt:lpstr>Calibri</vt:lpstr>
      <vt:lpstr>Cambria Math</vt:lpstr>
      <vt:lpstr>1_Office Theme</vt:lpstr>
      <vt:lpstr>Data Structures and Algorithms I.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Merge sort – time complexity analysis</vt:lpstr>
      <vt:lpstr>Merge sort – time complexity analysis</vt:lpstr>
      <vt:lpstr>Merge sort – time complexity analysis</vt:lpstr>
      <vt:lpstr>T(n)=Θ(1)+2T(n/2)+Θ(n)</vt:lpstr>
      <vt:lpstr>T(n)=2T(n/2)+Θ(n)</vt:lpstr>
      <vt:lpstr>It’s drawing time!</vt:lpstr>
      <vt:lpstr>Recursion tree</vt:lpstr>
      <vt:lpstr>PowerPoint Presentation</vt:lpstr>
      <vt:lpstr>PowerPoint Presentation</vt:lpstr>
      <vt:lpstr>PowerPoint Presentation</vt:lpstr>
      <vt:lpstr>Exercises</vt:lpstr>
      <vt:lpstr>PowerPoint Presentation</vt:lpstr>
      <vt:lpstr>Master theorem (method)</vt:lpstr>
      <vt:lpstr>T(n)=aT(n/b)+f(n)</vt:lpstr>
      <vt:lpstr>T(n)=aT(n/b)+f(n)</vt:lpstr>
      <vt:lpstr>T(n)=aT(n/b)+f(n)</vt:lpstr>
      <vt:lpstr>T(n)=aT(n/b)+f(n)</vt:lpstr>
      <vt:lpstr>3 Special cases</vt:lpstr>
      <vt:lpstr>PowerPoint Presentation</vt:lpstr>
      <vt:lpstr>PowerPoint Presentation</vt:lpstr>
      <vt:lpstr>PowerPoint Presentation</vt:lpstr>
      <vt:lpstr>Example</vt:lpstr>
      <vt:lpstr>T(n)=9T(n/3)+n</vt:lpstr>
      <vt:lpstr>T(n)=9T(n/3)+n</vt:lpstr>
      <vt:lpstr>T(n)=9T(n/3)+n</vt:lpstr>
      <vt:lpstr>T(n)=9T(n/3)+n</vt:lpstr>
      <vt:lpstr>T(n)=9T(n/3)+n</vt:lpstr>
      <vt:lpstr>Case 2</vt:lpstr>
      <vt:lpstr>Case 2</vt:lpstr>
      <vt:lpstr>Case 2</vt:lpstr>
      <vt:lpstr>Example</vt:lpstr>
      <vt:lpstr>T(n)=T(2n/3)+1</vt:lpstr>
      <vt:lpstr>T(n)=T(2n/3)+1</vt:lpstr>
      <vt:lpstr>T(n)=T(2n/3)+1</vt:lpstr>
      <vt:lpstr>T(n)=2T(n/2)+n∗lg(n)</vt:lpstr>
      <vt:lpstr>T(n)=2T(n/2)+n∗lg(n)</vt:lpstr>
      <vt:lpstr>PowerPoint Presentation</vt:lpstr>
      <vt:lpstr>PowerPoint Presentation</vt:lpstr>
      <vt:lpstr>PowerPoint Presentation</vt:lpstr>
      <vt:lpstr>Example</vt:lpstr>
      <vt:lpstr>T(n)=3T(n/4)+n∗lg(n)</vt:lpstr>
      <vt:lpstr>T(n)=3T(n/4)+n∗lg(n)</vt:lpstr>
      <vt:lpstr>T(n)=3T(n/4)+n∗lg(n)</vt:lpstr>
      <vt:lpstr>Master method - recap</vt:lpstr>
      <vt:lpstr>Appendix</vt:lpstr>
      <vt:lpstr>Exercises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Nagy Róbert</dc:creator>
  <cp:lastModifiedBy>Nagy Róbert</cp:lastModifiedBy>
  <cp:revision>13</cp:revision>
  <dcterms:created xsi:type="dcterms:W3CDTF">2025-08-20T14:32:22Z</dcterms:created>
  <dcterms:modified xsi:type="dcterms:W3CDTF">2025-08-23T14:33:21Z</dcterms:modified>
</cp:coreProperties>
</file>