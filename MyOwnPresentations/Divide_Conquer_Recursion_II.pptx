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70" r:id="rId11"/>
    <p:sldId id="271" r:id="rId12"/>
    <p:sldId id="273" r:id="rId13"/>
    <p:sldId id="281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2" r:id="rId22"/>
    <p:sldId id="284" r:id="rId23"/>
    <p:sldId id="283" r:id="rId24"/>
    <p:sldId id="285" r:id="rId25"/>
    <p:sldId id="286" r:id="rId26"/>
    <p:sldId id="287" r:id="rId27"/>
    <p:sldId id="28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6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7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5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49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2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41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2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9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8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2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19865503/can-recursion-be-named-as-a-simple-function-cal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>
                <a:solidFill>
                  <a:srgbClr val="FFFFFF"/>
                </a:solidFill>
              </a:rPr>
              <a:t>University of </a:t>
            </a:r>
            <a:r>
              <a:rPr lang="en-US">
                <a:solidFill>
                  <a:srgbClr val="FFFFFF"/>
                </a:solidFill>
              </a:rPr>
              <a:t>Szeged – Robert Nagy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2025/26. Autumn Semester</a:t>
            </a:r>
          </a:p>
          <a:p>
            <a:pPr algn="l"/>
            <a:endParaRPr lang="hu-HU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ack and white image of recursion&#10;&#10;AI-generated content may be incorrect.">
            <a:extLst>
              <a:ext uri="{FF2B5EF4-FFF2-40B4-BE49-F238E27FC236}">
                <a16:creationId xmlns:a16="http://schemas.microsoft.com/office/drawing/2014/main" id="{026D97E5-17FA-4ED8-C234-8AE61D2C7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286" y="457200"/>
            <a:ext cx="754742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65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FAF1C3-FEE1-0481-9A64-62C650AAB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83" y="457200"/>
            <a:ext cx="1112103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0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6DAE7684-D9A4-9CDC-7C7E-58E1FB760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1486" y="216769"/>
            <a:ext cx="13193486" cy="9994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E25EC1-BEC9-205C-C8ED-561F30970DA2}"/>
              </a:ext>
            </a:extLst>
          </p:cNvPr>
          <p:cNvSpPr/>
          <p:nvPr/>
        </p:nvSpPr>
        <p:spPr>
          <a:xfrm>
            <a:off x="-135429" y="5007428"/>
            <a:ext cx="11974286" cy="5203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D2823-B24F-A526-2CDC-C18F56A3F096}"/>
              </a:ext>
            </a:extLst>
          </p:cNvPr>
          <p:cNvSpPr txBox="1"/>
          <p:nvPr/>
        </p:nvSpPr>
        <p:spPr>
          <a:xfrm>
            <a:off x="522514" y="5998029"/>
            <a:ext cx="10086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https://stackoverflow.com/questions/19865503/can-recursion-be-named-as-a-simple-function-call</a:t>
            </a: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180826-3035-68D3-374B-4149D8DE6D1B}"/>
              </a:ext>
            </a:extLst>
          </p:cNvPr>
          <p:cNvSpPr/>
          <p:nvPr/>
        </p:nvSpPr>
        <p:spPr>
          <a:xfrm>
            <a:off x="3398742" y="213640"/>
            <a:ext cx="8969829" cy="5165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63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78FEC-88EF-25A7-03A6-F072BA18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4F60B738-2EBE-B3ED-9A6C-E1E80C27D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1486" y="216769"/>
            <a:ext cx="13193486" cy="9994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8177F4-CF26-849B-679D-2964F66F9D0F}"/>
              </a:ext>
            </a:extLst>
          </p:cNvPr>
          <p:cNvSpPr/>
          <p:nvPr/>
        </p:nvSpPr>
        <p:spPr>
          <a:xfrm>
            <a:off x="-135429" y="5007428"/>
            <a:ext cx="11974286" cy="5203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B6AE09-9ADA-6B98-1F5C-083B96AAB2B0}"/>
              </a:ext>
            </a:extLst>
          </p:cNvPr>
          <p:cNvSpPr/>
          <p:nvPr/>
        </p:nvSpPr>
        <p:spPr>
          <a:xfrm>
            <a:off x="6313714" y="213640"/>
            <a:ext cx="6054857" cy="5165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54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996ED-E4CD-E950-0F7B-2A8E9072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0AD34A9B-2009-426F-3619-F7720B58C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1486" y="216769"/>
            <a:ext cx="13193486" cy="9994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1CEB81-D08F-9DD7-C2AA-AAEC7E284011}"/>
              </a:ext>
            </a:extLst>
          </p:cNvPr>
          <p:cNvSpPr/>
          <p:nvPr/>
        </p:nvSpPr>
        <p:spPr>
          <a:xfrm>
            <a:off x="-135429" y="5007428"/>
            <a:ext cx="11974286" cy="5203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166385-8F4E-C79C-83EC-C8A353F4FD9A}"/>
              </a:ext>
            </a:extLst>
          </p:cNvPr>
          <p:cNvSpPr/>
          <p:nvPr/>
        </p:nvSpPr>
        <p:spPr>
          <a:xfrm>
            <a:off x="9437914" y="213640"/>
            <a:ext cx="2930657" cy="5165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60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E22AF-245D-9E29-8CF9-BC84377A0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36E2F4A5-BE06-9878-78D2-DDF5504AF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1486" y="216769"/>
            <a:ext cx="13193486" cy="9994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FE450B-2F95-B2CB-2841-A746B5DD55F7}"/>
              </a:ext>
            </a:extLst>
          </p:cNvPr>
          <p:cNvSpPr/>
          <p:nvPr/>
        </p:nvSpPr>
        <p:spPr>
          <a:xfrm>
            <a:off x="-135429" y="5007428"/>
            <a:ext cx="11974286" cy="5203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575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7B393-543A-1FD6-91EB-74F576BB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3F4CFF5D-2272-1A5B-FBBC-03FFE80F0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8469" y="-4408714"/>
            <a:ext cx="13091598" cy="99168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C772F8-D315-AB2F-0963-7F9502A3B2E8}"/>
              </a:ext>
            </a:extLst>
          </p:cNvPr>
          <p:cNvSpPr/>
          <p:nvPr/>
        </p:nvSpPr>
        <p:spPr>
          <a:xfrm>
            <a:off x="648343" y="-702129"/>
            <a:ext cx="11974286" cy="1404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45729A-E64A-8561-F7D1-16EDCA77793D}"/>
              </a:ext>
            </a:extLst>
          </p:cNvPr>
          <p:cNvSpPr/>
          <p:nvPr/>
        </p:nvSpPr>
        <p:spPr>
          <a:xfrm>
            <a:off x="3391542" y="1159328"/>
            <a:ext cx="8800458" cy="4539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12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0A4A4-8CAE-3834-89B7-95F8AEB8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DF3164EF-0C47-2F6C-A884-AC4ADF944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8469" y="-4408714"/>
            <a:ext cx="13091598" cy="99168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A7290D-984B-C622-A4B0-D1F5037F84C9}"/>
              </a:ext>
            </a:extLst>
          </p:cNvPr>
          <p:cNvSpPr/>
          <p:nvPr/>
        </p:nvSpPr>
        <p:spPr>
          <a:xfrm>
            <a:off x="648343" y="-702129"/>
            <a:ext cx="11974286" cy="1404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9C8D1E-3438-EF4D-FA28-BA08D3B0396B}"/>
              </a:ext>
            </a:extLst>
          </p:cNvPr>
          <p:cNvSpPr/>
          <p:nvPr/>
        </p:nvSpPr>
        <p:spPr>
          <a:xfrm>
            <a:off x="6694714" y="1159328"/>
            <a:ext cx="5497286" cy="4539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833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ECA79-75D4-163A-3A89-7DD03AA1D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F56923AE-43A9-650D-CF36-FFE47F334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8469" y="-4408714"/>
            <a:ext cx="13091598" cy="99168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2D6D29-77AA-5D6C-0B89-2D56D9E2DC0E}"/>
              </a:ext>
            </a:extLst>
          </p:cNvPr>
          <p:cNvSpPr/>
          <p:nvPr/>
        </p:nvSpPr>
        <p:spPr>
          <a:xfrm>
            <a:off x="648343" y="-702129"/>
            <a:ext cx="11974286" cy="1404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9A7ED8-D561-9971-2575-D77881CB9B66}"/>
              </a:ext>
            </a:extLst>
          </p:cNvPr>
          <p:cNvSpPr/>
          <p:nvPr/>
        </p:nvSpPr>
        <p:spPr>
          <a:xfrm>
            <a:off x="9808028" y="1159328"/>
            <a:ext cx="2383971" cy="4539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400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9CA36-4683-4363-F79F-15DFA9890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BB0AAC3D-D898-E078-A604-3ED9A9434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8469" y="-4408714"/>
            <a:ext cx="13091598" cy="99168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B4E62F-BC0C-0131-E1D7-5ECBF8D4D2BE}"/>
              </a:ext>
            </a:extLst>
          </p:cNvPr>
          <p:cNvSpPr/>
          <p:nvPr/>
        </p:nvSpPr>
        <p:spPr>
          <a:xfrm>
            <a:off x="648343" y="-702129"/>
            <a:ext cx="11974286" cy="1404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6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number and a diagram of a number&#10;&#10;AI-generated content may be incorrect.">
            <a:extLst>
              <a:ext uri="{FF2B5EF4-FFF2-40B4-BE49-F238E27FC236}">
                <a16:creationId xmlns:a16="http://schemas.microsoft.com/office/drawing/2014/main" id="{ED88B915-55BD-598E-EBFC-96D70E457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64668"/>
            <a:ext cx="11277600" cy="532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7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0F91B560-92AA-6B34-4378-D8A5CFEAF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6" y="1042905"/>
            <a:ext cx="10877268" cy="3596002"/>
          </a:xfrm>
        </p:spPr>
      </p:pic>
    </p:spTree>
    <p:extLst>
      <p:ext uri="{BB962C8B-B14F-4D97-AF65-F5344CB8AC3E}">
        <p14:creationId xmlns:p14="http://schemas.microsoft.com/office/powerpoint/2010/main" val="3717306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08AD-5F83-08D3-509F-21EB54166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time complexity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CF8E77-8AA2-729C-32D4-0B5A40D07C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Divide: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CF8E77-8AA2-729C-32D4-0B5A40D07C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901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0FD23-26B7-30F0-96AC-3305A9F05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5ED37-1932-D31D-1CFC-B6CDB828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time complexity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99673D-F876-2A80-343A-2734B22225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Divide: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Conquer: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99673D-F876-2A80-343A-2734B22225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138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C24E-349E-2E9A-0F16-70353343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6422B-C716-F2E3-ED29-76DD498A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time complexity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392E24-A14E-4BAB-C035-2D27AC88EB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Divide: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Conquer: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Combine: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392E24-A14E-4BAB-C035-2D27AC88EB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891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9DF58D6-6925-3175-9956-E303EE8A88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29766" y="1146412"/>
                <a:ext cx="9014348" cy="2402006"/>
              </a:xfrm>
            </p:spPr>
            <p:txBody>
              <a:bodyPr vert="horz" lIns="91440" tIns="45720" rIns="91440" bIns="45720" rtlCol="0" anchor="b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𝑇</m:t>
                      </m:r>
                      <m:d>
                        <m:dPr>
                          <m:ctrlP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𝑛</m:t>
                          </m:r>
                        </m:e>
                      </m:d>
                      <m:r>
                        <a:rPr lang="en-US" sz="48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8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Θ</m:t>
                      </m:r>
                      <m:d>
                        <m:dPr>
                          <m:ctrlP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1</m:t>
                          </m:r>
                        </m:e>
                      </m:d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+</m:t>
                      </m:r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𝑇</m:t>
                      </m:r>
                      <m:d>
                        <m:dPr>
                          <m:ctrlPr>
                            <a:rPr lang="en-US" sz="4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</m:ctrlPr>
                            </m:fPr>
                            <m:num>
                              <m: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48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Θ</m:t>
                      </m:r>
                      <m:d>
                        <m:dPr>
                          <m:ctrlP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4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4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9DF58D6-6925-3175-9956-E303EE8A88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29766" y="1146412"/>
                <a:ext cx="9014348" cy="240200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BAA13-0A8B-EA38-380A-CA3558588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time complexity of Merge Sort</a:t>
            </a:r>
          </a:p>
        </p:txBody>
      </p:sp>
    </p:spTree>
    <p:extLst>
      <p:ext uri="{BB962C8B-B14F-4D97-AF65-F5344CB8AC3E}">
        <p14:creationId xmlns:p14="http://schemas.microsoft.com/office/powerpoint/2010/main" val="3176787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96048-EECB-C985-081A-70AF5B4B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C099823-9BB0-DED3-8FE8-BB14AE14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7242437-B09A-DC89-E617-D44A8033809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29766" y="1146412"/>
                <a:ext cx="9014348" cy="2402006"/>
              </a:xfrm>
            </p:spPr>
            <p:txBody>
              <a:bodyPr vert="horz" lIns="91440" tIns="45720" rIns="91440" bIns="45720" rtlCol="0" anchor="b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𝑇</m:t>
                      </m:r>
                      <m:d>
                        <m:dPr>
                          <m:ctrlP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𝑛</m:t>
                          </m:r>
                        </m:e>
                      </m:d>
                      <m:r>
                        <a:rPr lang="en-US" sz="48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</m:t>
                      </m:r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𝑇</m:t>
                      </m:r>
                      <m:d>
                        <m:dPr>
                          <m:ctrlPr>
                            <a:rPr lang="en-US" sz="4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</m:ctrlPr>
                            </m:fPr>
                            <m:num>
                              <m: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48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4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48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Θ</m:t>
                      </m:r>
                      <m:d>
                        <m:dPr>
                          <m:ctrlPr>
                            <a:rPr lang="en-US" sz="48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4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4800" kern="1200" dirty="0">
                  <a:solidFill>
                    <a:schemeClr val="tx1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7242437-B09A-DC89-E617-D44A80338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29766" y="1146412"/>
                <a:ext cx="9014348" cy="240200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041DA22-B5F4-87A3-258D-194029C7D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C90A71-80B3-A86D-22DB-211A26AF0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19843A-F538-9890-DDAA-E2DEE966B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91B6B9-B9FA-7FCA-B51F-718C8ADA2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74197-349A-1108-15CB-C2BF4AB96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The time complexity of Merge Sort</a:t>
            </a:r>
          </a:p>
        </p:txBody>
      </p:sp>
    </p:spTree>
    <p:extLst>
      <p:ext uri="{BB962C8B-B14F-4D97-AF65-F5344CB8AC3E}">
        <p14:creationId xmlns:p14="http://schemas.microsoft.com/office/powerpoint/2010/main" val="2249660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children coloring on a large paper&#10;&#10;AI-generated content may be incorrect.">
            <a:extLst>
              <a:ext uri="{FF2B5EF4-FFF2-40B4-BE49-F238E27FC236}">
                <a16:creationId xmlns:a16="http://schemas.microsoft.com/office/drawing/2014/main" id="{08FC7698-CE7F-274E-1DE4-53CC5E61FE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4DDDE-A891-5CB7-2042-C751120F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It’s drawing time!</a:t>
            </a:r>
          </a:p>
        </p:txBody>
      </p:sp>
    </p:spTree>
    <p:extLst>
      <p:ext uri="{BB962C8B-B14F-4D97-AF65-F5344CB8AC3E}">
        <p14:creationId xmlns:p14="http://schemas.microsoft.com/office/powerpoint/2010/main" val="320094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84D8A-37A0-19E7-9C0D-920E2E58D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Recursion tree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diagram of a triangle&#10;&#10;AI-generated content may be incorrect.">
            <a:extLst>
              <a:ext uri="{FF2B5EF4-FFF2-40B4-BE49-F238E27FC236}">
                <a16:creationId xmlns:a16="http://schemas.microsoft.com/office/drawing/2014/main" id="{58A03BE7-58E8-7C0C-2D5D-72A048051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649646"/>
            <a:ext cx="6408836" cy="540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11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triangle&#10;&#10;AI-generated content may be incorrect.">
            <a:extLst>
              <a:ext uri="{FF2B5EF4-FFF2-40B4-BE49-F238E27FC236}">
                <a16:creationId xmlns:a16="http://schemas.microsoft.com/office/drawing/2014/main" id="{9C6DFC32-A211-3756-E395-D5075B7F6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885" y="643466"/>
            <a:ext cx="7684229" cy="5571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D4E76D-BAB9-10AB-D321-738A6570757D}"/>
              </a:ext>
            </a:extLst>
          </p:cNvPr>
          <p:cNvSpPr/>
          <p:nvPr/>
        </p:nvSpPr>
        <p:spPr>
          <a:xfrm>
            <a:off x="6316400" y="2936872"/>
            <a:ext cx="3265714" cy="3102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47AF50-3925-71C5-158A-9E81E30AD406}"/>
                  </a:ext>
                </a:extLst>
              </p:cNvPr>
              <p:cNvSpPr txBox="1"/>
              <p:nvPr/>
            </p:nvSpPr>
            <p:spPr>
              <a:xfrm>
                <a:off x="7217228" y="3121929"/>
                <a:ext cx="11810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/2)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47AF50-3925-71C5-158A-9E81E30AD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228" y="3121929"/>
                <a:ext cx="118102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898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8F51-9782-A155-2724-C4339CF5D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triangle&#10;&#10;AI-generated content may be incorrect.">
            <a:extLst>
              <a:ext uri="{FF2B5EF4-FFF2-40B4-BE49-F238E27FC236}">
                <a16:creationId xmlns:a16="http://schemas.microsoft.com/office/drawing/2014/main" id="{F8C4B855-C079-CEFF-B760-0C3E96587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885" y="643466"/>
            <a:ext cx="768422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99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house with arrows&#10;&#10;AI-generated content may be incorrect.">
            <a:extLst>
              <a:ext uri="{FF2B5EF4-FFF2-40B4-BE49-F238E27FC236}">
                <a16:creationId xmlns:a16="http://schemas.microsoft.com/office/drawing/2014/main" id="{B128D4BE-A01D-AD3F-B9A9-0B4BEEB16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000" y="407700"/>
            <a:ext cx="6713999" cy="604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72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BF6398-7D7D-D3C1-B044-A83877379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828268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F8DC617-078C-4B85-9017-80E8853DE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806871"/>
            <a:ext cx="10905066" cy="32442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82BAD90-3651-D778-462D-FC6D987CD625}"/>
              </a:ext>
            </a:extLst>
          </p:cNvPr>
          <p:cNvSpPr/>
          <p:nvPr/>
        </p:nvSpPr>
        <p:spPr>
          <a:xfrm>
            <a:off x="5791200" y="2253343"/>
            <a:ext cx="5246914" cy="402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4C014B-AF3A-07AC-BA72-31CF831027B5}"/>
              </a:ext>
            </a:extLst>
          </p:cNvPr>
          <p:cNvSpPr/>
          <p:nvPr/>
        </p:nvSpPr>
        <p:spPr>
          <a:xfrm>
            <a:off x="468086" y="2574471"/>
            <a:ext cx="5246914" cy="402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60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3FDCE4-5CDC-EBAB-E6F8-77E4694DF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Master theorem (method)</a:t>
            </a:r>
          </a:p>
        </p:txBody>
      </p:sp>
    </p:spTree>
    <p:extLst>
      <p:ext uri="{BB962C8B-B14F-4D97-AF65-F5344CB8AC3E}">
        <p14:creationId xmlns:p14="http://schemas.microsoft.com/office/powerpoint/2010/main" val="2881231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E5D4-11C9-7C9A-E339-38CC6122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5C6DD-E09D-6720-BF78-AE3060EAA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0810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121</Words>
  <Application>Microsoft Office PowerPoint</Application>
  <PresentationFormat>Widescreen</PresentationFormat>
  <Paragraphs>22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Cambria Math</vt:lpstr>
      <vt:lpstr>1_Office Theme</vt:lpstr>
      <vt:lpstr>Data Structures and Algorithms I.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Merge sort – time complexity analysis</vt:lpstr>
      <vt:lpstr>Merge sort – time complexity analysis</vt:lpstr>
      <vt:lpstr>Merge sort – time complexity analysis</vt:lpstr>
      <vt:lpstr>T(n)=Θ(1)+T(n/2)+Θ(n)</vt:lpstr>
      <vt:lpstr>T(n)=T(n/2)+Θ(n)</vt:lpstr>
      <vt:lpstr>It’s drawing time!</vt:lpstr>
      <vt:lpstr>Recursion tree</vt:lpstr>
      <vt:lpstr>PowerPoint Presentation</vt:lpstr>
      <vt:lpstr>PowerPoint Presentation</vt:lpstr>
      <vt:lpstr>PowerPoint Presentation</vt:lpstr>
      <vt:lpstr>Exercises</vt:lpstr>
      <vt:lpstr>PowerPoint Presentation</vt:lpstr>
      <vt:lpstr>Master theorem (method)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6</cp:revision>
  <dcterms:created xsi:type="dcterms:W3CDTF">2025-08-20T14:32:22Z</dcterms:created>
  <dcterms:modified xsi:type="dcterms:W3CDTF">2025-08-20T21:05:39Z</dcterms:modified>
</cp:coreProperties>
</file>