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258" r:id="rId4"/>
    <p:sldId id="259" r:id="rId5"/>
    <p:sldId id="262" r:id="rId6"/>
    <p:sldId id="260" r:id="rId7"/>
    <p:sldId id="261" r:id="rId8"/>
    <p:sldId id="265" r:id="rId9"/>
    <p:sldId id="267" r:id="rId10"/>
    <p:sldId id="263" r:id="rId11"/>
    <p:sldId id="266" r:id="rId12"/>
    <p:sldId id="269" r:id="rId13"/>
    <p:sldId id="264" r:id="rId14"/>
    <p:sldId id="270" r:id="rId15"/>
    <p:sldId id="271" r:id="rId16"/>
    <p:sldId id="274" r:id="rId17"/>
    <p:sldId id="277" r:id="rId18"/>
    <p:sldId id="275" r:id="rId19"/>
    <p:sldId id="276" r:id="rId20"/>
    <p:sldId id="272" r:id="rId21"/>
    <p:sldId id="285" r:id="rId22"/>
    <p:sldId id="273" r:id="rId23"/>
    <p:sldId id="278" r:id="rId24"/>
    <p:sldId id="279" r:id="rId25"/>
    <p:sldId id="280" r:id="rId26"/>
    <p:sldId id="284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8" Type="http://schemas.openxmlformats.org/officeDocument/2006/relationships/slide" Target="slides/slide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2475B78-455C-4B54-A9DE-BDF6F2BE3D2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D08A8F7-1FF0-41F4-9288-915885DD09E8}">
      <dgm:prSet/>
      <dgm:spPr/>
      <dgm:t>
        <a:bodyPr/>
        <a:lstStyle/>
        <a:p>
          <a:r>
            <a:rPr lang="en-US"/>
            <a:t>SHA-256</a:t>
          </a:r>
        </a:p>
      </dgm:t>
    </dgm:pt>
    <dgm:pt modelId="{D9C18477-C372-441A-BB0F-CFACDD54A77E}" type="parTrans" cxnId="{1536E14B-D618-4152-BA5D-AA9E5C6B81E4}">
      <dgm:prSet/>
      <dgm:spPr/>
      <dgm:t>
        <a:bodyPr/>
        <a:lstStyle/>
        <a:p>
          <a:endParaRPr lang="en-US"/>
        </a:p>
      </dgm:t>
    </dgm:pt>
    <dgm:pt modelId="{8AD7B6F6-EFE5-4E42-A957-6D6D7929A584}" type="sibTrans" cxnId="{1536E14B-D618-4152-BA5D-AA9E5C6B81E4}">
      <dgm:prSet/>
      <dgm:spPr/>
      <dgm:t>
        <a:bodyPr/>
        <a:lstStyle/>
        <a:p>
          <a:endParaRPr lang="en-US"/>
        </a:p>
      </dgm:t>
    </dgm:pt>
    <dgm:pt modelId="{2C43B241-2D83-41EF-BD71-F4AF0BB88AF0}">
      <dgm:prSet/>
      <dgm:spPr/>
      <dgm:t>
        <a:bodyPr/>
        <a:lstStyle/>
        <a:p>
          <a:r>
            <a:rPr lang="en-US"/>
            <a:t>SHA-3</a:t>
          </a:r>
        </a:p>
      </dgm:t>
    </dgm:pt>
    <dgm:pt modelId="{7E4E5F82-F880-4F0B-AF3E-52976EBE8191}" type="parTrans" cxnId="{6DF81E4D-EA58-421A-A49C-FD9941BB7FD7}">
      <dgm:prSet/>
      <dgm:spPr/>
      <dgm:t>
        <a:bodyPr/>
        <a:lstStyle/>
        <a:p>
          <a:endParaRPr lang="en-US"/>
        </a:p>
      </dgm:t>
    </dgm:pt>
    <dgm:pt modelId="{87C48F2C-1340-43A7-8537-BE0516006776}" type="sibTrans" cxnId="{6DF81E4D-EA58-421A-A49C-FD9941BB7FD7}">
      <dgm:prSet/>
      <dgm:spPr/>
      <dgm:t>
        <a:bodyPr/>
        <a:lstStyle/>
        <a:p>
          <a:endParaRPr lang="en-US"/>
        </a:p>
      </dgm:t>
    </dgm:pt>
    <dgm:pt modelId="{A768A8D5-A1DF-41D9-8527-BAE01850238B}">
      <dgm:prSet/>
      <dgm:spPr/>
      <dgm:t>
        <a:bodyPr/>
        <a:lstStyle/>
        <a:p>
          <a:r>
            <a:rPr lang="en-US"/>
            <a:t>CRC32</a:t>
          </a:r>
        </a:p>
      </dgm:t>
    </dgm:pt>
    <dgm:pt modelId="{0E0636F9-EF5B-494E-B8BE-6AD12D360BE7}" type="parTrans" cxnId="{E0276DC6-A663-4A2A-92EF-A3D5B4F0CBED}">
      <dgm:prSet/>
      <dgm:spPr/>
      <dgm:t>
        <a:bodyPr/>
        <a:lstStyle/>
        <a:p>
          <a:endParaRPr lang="en-US"/>
        </a:p>
      </dgm:t>
    </dgm:pt>
    <dgm:pt modelId="{D190BACC-74C2-407D-97ED-3F65E3795D86}" type="sibTrans" cxnId="{E0276DC6-A663-4A2A-92EF-A3D5B4F0CBED}">
      <dgm:prSet/>
      <dgm:spPr/>
      <dgm:t>
        <a:bodyPr/>
        <a:lstStyle/>
        <a:p>
          <a:endParaRPr lang="en-US"/>
        </a:p>
      </dgm:t>
    </dgm:pt>
    <dgm:pt modelId="{203D3279-6A59-4258-BE35-E9517E367B50}">
      <dgm:prSet/>
      <dgm:spPr/>
      <dgm:t>
        <a:bodyPr/>
        <a:lstStyle/>
        <a:p>
          <a:r>
            <a:rPr lang="en-US" b="1" dirty="0">
              <a:solidFill>
                <a:srgbClr val="FF0000"/>
              </a:solidFill>
            </a:rPr>
            <a:t>MD5</a:t>
          </a:r>
        </a:p>
      </dgm:t>
    </dgm:pt>
    <dgm:pt modelId="{C13DF16E-EF35-455E-91BA-EF5900B9AC6F}" type="parTrans" cxnId="{46968E62-0A0B-4FA5-B518-729C47F4E99D}">
      <dgm:prSet/>
      <dgm:spPr/>
      <dgm:t>
        <a:bodyPr/>
        <a:lstStyle/>
        <a:p>
          <a:endParaRPr lang="en-US"/>
        </a:p>
      </dgm:t>
    </dgm:pt>
    <dgm:pt modelId="{57F3BA71-34D1-4E5A-95BB-43F7E3554542}" type="sibTrans" cxnId="{46968E62-0A0B-4FA5-B518-729C47F4E99D}">
      <dgm:prSet/>
      <dgm:spPr/>
      <dgm:t>
        <a:bodyPr/>
        <a:lstStyle/>
        <a:p>
          <a:endParaRPr lang="en-US"/>
        </a:p>
      </dgm:t>
    </dgm:pt>
    <dgm:pt modelId="{017EA3A2-9E06-414B-A2DE-F038510085FE}" type="pres">
      <dgm:prSet presAssocID="{92475B78-455C-4B54-A9DE-BDF6F2BE3D25}" presName="vert0" presStyleCnt="0">
        <dgm:presLayoutVars>
          <dgm:dir/>
          <dgm:animOne val="branch"/>
          <dgm:animLvl val="lvl"/>
        </dgm:presLayoutVars>
      </dgm:prSet>
      <dgm:spPr/>
    </dgm:pt>
    <dgm:pt modelId="{3DEF0194-E4DC-4AA4-8475-E35F0F6724EE}" type="pres">
      <dgm:prSet presAssocID="{FD08A8F7-1FF0-41F4-9288-915885DD09E8}" presName="thickLine" presStyleLbl="alignNode1" presStyleIdx="0" presStyleCnt="4"/>
      <dgm:spPr/>
    </dgm:pt>
    <dgm:pt modelId="{158EE023-9E44-4D93-A102-30763708A4CD}" type="pres">
      <dgm:prSet presAssocID="{FD08A8F7-1FF0-41F4-9288-915885DD09E8}" presName="horz1" presStyleCnt="0"/>
      <dgm:spPr/>
    </dgm:pt>
    <dgm:pt modelId="{9EF35280-B183-4B79-AFE8-7BCCA658138B}" type="pres">
      <dgm:prSet presAssocID="{FD08A8F7-1FF0-41F4-9288-915885DD09E8}" presName="tx1" presStyleLbl="revTx" presStyleIdx="0" presStyleCnt="4"/>
      <dgm:spPr/>
    </dgm:pt>
    <dgm:pt modelId="{9942E26A-798D-4586-B27E-E4D774159A6D}" type="pres">
      <dgm:prSet presAssocID="{FD08A8F7-1FF0-41F4-9288-915885DD09E8}" presName="vert1" presStyleCnt="0"/>
      <dgm:spPr/>
    </dgm:pt>
    <dgm:pt modelId="{E5E27E88-6B0A-4BAA-98E7-C8C291827148}" type="pres">
      <dgm:prSet presAssocID="{2C43B241-2D83-41EF-BD71-F4AF0BB88AF0}" presName="thickLine" presStyleLbl="alignNode1" presStyleIdx="1" presStyleCnt="4"/>
      <dgm:spPr/>
    </dgm:pt>
    <dgm:pt modelId="{229CBE1C-AA82-4EA6-BE0A-4F4BDEED85B0}" type="pres">
      <dgm:prSet presAssocID="{2C43B241-2D83-41EF-BD71-F4AF0BB88AF0}" presName="horz1" presStyleCnt="0"/>
      <dgm:spPr/>
    </dgm:pt>
    <dgm:pt modelId="{716C9DDA-17BA-439D-A693-DFBCCE3937DF}" type="pres">
      <dgm:prSet presAssocID="{2C43B241-2D83-41EF-BD71-F4AF0BB88AF0}" presName="tx1" presStyleLbl="revTx" presStyleIdx="1" presStyleCnt="4"/>
      <dgm:spPr/>
    </dgm:pt>
    <dgm:pt modelId="{26BFAED2-185A-434D-919C-7A9CBCEAAC67}" type="pres">
      <dgm:prSet presAssocID="{2C43B241-2D83-41EF-BD71-F4AF0BB88AF0}" presName="vert1" presStyleCnt="0"/>
      <dgm:spPr/>
    </dgm:pt>
    <dgm:pt modelId="{DAF63B4E-C729-4674-AFA7-BA24E2AEDA4C}" type="pres">
      <dgm:prSet presAssocID="{A768A8D5-A1DF-41D9-8527-BAE01850238B}" presName="thickLine" presStyleLbl="alignNode1" presStyleIdx="2" presStyleCnt="4"/>
      <dgm:spPr/>
    </dgm:pt>
    <dgm:pt modelId="{9A5F90F9-B1EE-4500-A088-1BE70CF9F84C}" type="pres">
      <dgm:prSet presAssocID="{A768A8D5-A1DF-41D9-8527-BAE01850238B}" presName="horz1" presStyleCnt="0"/>
      <dgm:spPr/>
    </dgm:pt>
    <dgm:pt modelId="{EC682351-B1A1-48A5-AF69-D4342FE2FAEB}" type="pres">
      <dgm:prSet presAssocID="{A768A8D5-A1DF-41D9-8527-BAE01850238B}" presName="tx1" presStyleLbl="revTx" presStyleIdx="2" presStyleCnt="4"/>
      <dgm:spPr/>
    </dgm:pt>
    <dgm:pt modelId="{D6784E2B-75C2-4D46-B8B6-36B649FD63EF}" type="pres">
      <dgm:prSet presAssocID="{A768A8D5-A1DF-41D9-8527-BAE01850238B}" presName="vert1" presStyleCnt="0"/>
      <dgm:spPr/>
    </dgm:pt>
    <dgm:pt modelId="{A302AC2E-9F42-4646-AAD6-4EC0DDAB35E3}" type="pres">
      <dgm:prSet presAssocID="{203D3279-6A59-4258-BE35-E9517E367B50}" presName="thickLine" presStyleLbl="alignNode1" presStyleIdx="3" presStyleCnt="4"/>
      <dgm:spPr/>
    </dgm:pt>
    <dgm:pt modelId="{9D9EAB21-B7DA-46CB-B947-401956C08ED7}" type="pres">
      <dgm:prSet presAssocID="{203D3279-6A59-4258-BE35-E9517E367B50}" presName="horz1" presStyleCnt="0"/>
      <dgm:spPr/>
    </dgm:pt>
    <dgm:pt modelId="{FAF970E8-7815-4DEF-A376-126D9C862C6A}" type="pres">
      <dgm:prSet presAssocID="{203D3279-6A59-4258-BE35-E9517E367B50}" presName="tx1" presStyleLbl="revTx" presStyleIdx="3" presStyleCnt="4"/>
      <dgm:spPr/>
    </dgm:pt>
    <dgm:pt modelId="{26485F51-FF0E-4B49-8162-D0F6995A7A1C}" type="pres">
      <dgm:prSet presAssocID="{203D3279-6A59-4258-BE35-E9517E367B50}" presName="vert1" presStyleCnt="0"/>
      <dgm:spPr/>
    </dgm:pt>
  </dgm:ptLst>
  <dgm:cxnLst>
    <dgm:cxn modelId="{4851E325-4E54-4415-82DB-34D721AE8573}" type="presOf" srcId="{203D3279-6A59-4258-BE35-E9517E367B50}" destId="{FAF970E8-7815-4DEF-A376-126D9C862C6A}" srcOrd="0" destOrd="0" presId="urn:microsoft.com/office/officeart/2008/layout/LinedList"/>
    <dgm:cxn modelId="{C2295541-A69F-4376-9F26-4848F8D467FE}" type="presOf" srcId="{92475B78-455C-4B54-A9DE-BDF6F2BE3D25}" destId="{017EA3A2-9E06-414B-A2DE-F038510085FE}" srcOrd="0" destOrd="0" presId="urn:microsoft.com/office/officeart/2008/layout/LinedList"/>
    <dgm:cxn modelId="{46968E62-0A0B-4FA5-B518-729C47F4E99D}" srcId="{92475B78-455C-4B54-A9DE-BDF6F2BE3D25}" destId="{203D3279-6A59-4258-BE35-E9517E367B50}" srcOrd="3" destOrd="0" parTransId="{C13DF16E-EF35-455E-91BA-EF5900B9AC6F}" sibTransId="{57F3BA71-34D1-4E5A-95BB-43F7E3554542}"/>
    <dgm:cxn modelId="{1536E14B-D618-4152-BA5D-AA9E5C6B81E4}" srcId="{92475B78-455C-4B54-A9DE-BDF6F2BE3D25}" destId="{FD08A8F7-1FF0-41F4-9288-915885DD09E8}" srcOrd="0" destOrd="0" parTransId="{D9C18477-C372-441A-BB0F-CFACDD54A77E}" sibTransId="{8AD7B6F6-EFE5-4E42-A957-6D6D7929A584}"/>
    <dgm:cxn modelId="{6DF81E4D-EA58-421A-A49C-FD9941BB7FD7}" srcId="{92475B78-455C-4B54-A9DE-BDF6F2BE3D25}" destId="{2C43B241-2D83-41EF-BD71-F4AF0BB88AF0}" srcOrd="1" destOrd="0" parTransId="{7E4E5F82-F880-4F0B-AF3E-52976EBE8191}" sibTransId="{87C48F2C-1340-43A7-8537-BE0516006776}"/>
    <dgm:cxn modelId="{B09DE66E-8D21-4DE7-AC98-D18FE3090756}" type="presOf" srcId="{A768A8D5-A1DF-41D9-8527-BAE01850238B}" destId="{EC682351-B1A1-48A5-AF69-D4342FE2FAEB}" srcOrd="0" destOrd="0" presId="urn:microsoft.com/office/officeart/2008/layout/LinedList"/>
    <dgm:cxn modelId="{0C839F8A-356D-4B70-9438-7F1F521FD2E2}" type="presOf" srcId="{2C43B241-2D83-41EF-BD71-F4AF0BB88AF0}" destId="{716C9DDA-17BA-439D-A693-DFBCCE3937DF}" srcOrd="0" destOrd="0" presId="urn:microsoft.com/office/officeart/2008/layout/LinedList"/>
    <dgm:cxn modelId="{E0276DC6-A663-4A2A-92EF-A3D5B4F0CBED}" srcId="{92475B78-455C-4B54-A9DE-BDF6F2BE3D25}" destId="{A768A8D5-A1DF-41D9-8527-BAE01850238B}" srcOrd="2" destOrd="0" parTransId="{0E0636F9-EF5B-494E-B8BE-6AD12D360BE7}" sibTransId="{D190BACC-74C2-407D-97ED-3F65E3795D86}"/>
    <dgm:cxn modelId="{BD29E8E4-7A3E-499F-AA74-5D89F4F799F3}" type="presOf" srcId="{FD08A8F7-1FF0-41F4-9288-915885DD09E8}" destId="{9EF35280-B183-4B79-AFE8-7BCCA658138B}" srcOrd="0" destOrd="0" presId="urn:microsoft.com/office/officeart/2008/layout/LinedList"/>
    <dgm:cxn modelId="{481D4377-70D8-4779-B7F3-13A93A6061FB}" type="presParOf" srcId="{017EA3A2-9E06-414B-A2DE-F038510085FE}" destId="{3DEF0194-E4DC-4AA4-8475-E35F0F6724EE}" srcOrd="0" destOrd="0" presId="urn:microsoft.com/office/officeart/2008/layout/LinedList"/>
    <dgm:cxn modelId="{976197AC-948C-405A-9C07-10AD1DFBD72F}" type="presParOf" srcId="{017EA3A2-9E06-414B-A2DE-F038510085FE}" destId="{158EE023-9E44-4D93-A102-30763708A4CD}" srcOrd="1" destOrd="0" presId="urn:microsoft.com/office/officeart/2008/layout/LinedList"/>
    <dgm:cxn modelId="{23B6C060-416E-4D71-B1B2-49B92CCCD37D}" type="presParOf" srcId="{158EE023-9E44-4D93-A102-30763708A4CD}" destId="{9EF35280-B183-4B79-AFE8-7BCCA658138B}" srcOrd="0" destOrd="0" presId="urn:microsoft.com/office/officeart/2008/layout/LinedList"/>
    <dgm:cxn modelId="{E2C5DBD0-8F3F-4894-8E5D-541D8C60B1F2}" type="presParOf" srcId="{158EE023-9E44-4D93-A102-30763708A4CD}" destId="{9942E26A-798D-4586-B27E-E4D774159A6D}" srcOrd="1" destOrd="0" presId="urn:microsoft.com/office/officeart/2008/layout/LinedList"/>
    <dgm:cxn modelId="{7ED81EB5-C933-4E84-B090-AC80FCA7DAFD}" type="presParOf" srcId="{017EA3A2-9E06-414B-A2DE-F038510085FE}" destId="{E5E27E88-6B0A-4BAA-98E7-C8C291827148}" srcOrd="2" destOrd="0" presId="urn:microsoft.com/office/officeart/2008/layout/LinedList"/>
    <dgm:cxn modelId="{0A939592-2020-41E3-B933-5220A6E75492}" type="presParOf" srcId="{017EA3A2-9E06-414B-A2DE-F038510085FE}" destId="{229CBE1C-AA82-4EA6-BE0A-4F4BDEED85B0}" srcOrd="3" destOrd="0" presId="urn:microsoft.com/office/officeart/2008/layout/LinedList"/>
    <dgm:cxn modelId="{A98893E3-788C-4D3D-A891-AC040D8CB6E6}" type="presParOf" srcId="{229CBE1C-AA82-4EA6-BE0A-4F4BDEED85B0}" destId="{716C9DDA-17BA-439D-A693-DFBCCE3937DF}" srcOrd="0" destOrd="0" presId="urn:microsoft.com/office/officeart/2008/layout/LinedList"/>
    <dgm:cxn modelId="{17E6FA86-55E6-444F-8D5A-C89727229AD7}" type="presParOf" srcId="{229CBE1C-AA82-4EA6-BE0A-4F4BDEED85B0}" destId="{26BFAED2-185A-434D-919C-7A9CBCEAAC67}" srcOrd="1" destOrd="0" presId="urn:microsoft.com/office/officeart/2008/layout/LinedList"/>
    <dgm:cxn modelId="{C63829C6-6637-4A6D-8C3D-8AE623DBACBC}" type="presParOf" srcId="{017EA3A2-9E06-414B-A2DE-F038510085FE}" destId="{DAF63B4E-C729-4674-AFA7-BA24E2AEDA4C}" srcOrd="4" destOrd="0" presId="urn:microsoft.com/office/officeart/2008/layout/LinedList"/>
    <dgm:cxn modelId="{E1B9E050-8811-470D-A935-50ECE06EB666}" type="presParOf" srcId="{017EA3A2-9E06-414B-A2DE-F038510085FE}" destId="{9A5F90F9-B1EE-4500-A088-1BE70CF9F84C}" srcOrd="5" destOrd="0" presId="urn:microsoft.com/office/officeart/2008/layout/LinedList"/>
    <dgm:cxn modelId="{7703043A-3F63-4452-BF55-2668AFABBD75}" type="presParOf" srcId="{9A5F90F9-B1EE-4500-A088-1BE70CF9F84C}" destId="{EC682351-B1A1-48A5-AF69-D4342FE2FAEB}" srcOrd="0" destOrd="0" presId="urn:microsoft.com/office/officeart/2008/layout/LinedList"/>
    <dgm:cxn modelId="{896D6DB4-6D8E-4629-9660-997202912A25}" type="presParOf" srcId="{9A5F90F9-B1EE-4500-A088-1BE70CF9F84C}" destId="{D6784E2B-75C2-4D46-B8B6-36B649FD63EF}" srcOrd="1" destOrd="0" presId="urn:microsoft.com/office/officeart/2008/layout/LinedList"/>
    <dgm:cxn modelId="{860FD19F-FB6C-4678-BECB-19F5054A54D3}" type="presParOf" srcId="{017EA3A2-9E06-414B-A2DE-F038510085FE}" destId="{A302AC2E-9F42-4646-AAD6-4EC0DDAB35E3}" srcOrd="6" destOrd="0" presId="urn:microsoft.com/office/officeart/2008/layout/LinedList"/>
    <dgm:cxn modelId="{26752917-8311-4E11-854E-087E239029EC}" type="presParOf" srcId="{017EA3A2-9E06-414B-A2DE-F038510085FE}" destId="{9D9EAB21-B7DA-46CB-B947-401956C08ED7}" srcOrd="7" destOrd="0" presId="urn:microsoft.com/office/officeart/2008/layout/LinedList"/>
    <dgm:cxn modelId="{0FBE8964-8F67-4020-965B-C451F7D6BD64}" type="presParOf" srcId="{9D9EAB21-B7DA-46CB-B947-401956C08ED7}" destId="{FAF970E8-7815-4DEF-A376-126D9C862C6A}" srcOrd="0" destOrd="0" presId="urn:microsoft.com/office/officeart/2008/layout/LinedList"/>
    <dgm:cxn modelId="{C50CC57E-45E4-4562-BDB7-0268C04D4F0C}" type="presParOf" srcId="{9D9EAB21-B7DA-46CB-B947-401956C08ED7}" destId="{26485F51-FF0E-4B49-8162-D0F6995A7A1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EF0194-E4DC-4AA4-8475-E35F0F6724EE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F35280-B183-4B79-AFE8-7BCCA658138B}">
      <dsp:nvSpPr>
        <dsp:cNvPr id="0" name=""/>
        <dsp:cNvSpPr/>
      </dsp:nvSpPr>
      <dsp:spPr>
        <a:xfrm>
          <a:off x="0" y="0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SHA-256</a:t>
          </a:r>
        </a:p>
      </dsp:txBody>
      <dsp:txXfrm>
        <a:off x="0" y="0"/>
        <a:ext cx="10515600" cy="1087834"/>
      </dsp:txXfrm>
    </dsp:sp>
    <dsp:sp modelId="{E5E27E88-6B0A-4BAA-98E7-C8C291827148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6C9DDA-17BA-439D-A693-DFBCCE3937DF}">
      <dsp:nvSpPr>
        <dsp:cNvPr id="0" name=""/>
        <dsp:cNvSpPr/>
      </dsp:nvSpPr>
      <dsp:spPr>
        <a:xfrm>
          <a:off x="0" y="1087834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SHA-3</a:t>
          </a:r>
        </a:p>
      </dsp:txBody>
      <dsp:txXfrm>
        <a:off x="0" y="1087834"/>
        <a:ext cx="10515600" cy="1087834"/>
      </dsp:txXfrm>
    </dsp:sp>
    <dsp:sp modelId="{DAF63B4E-C729-4674-AFA7-BA24E2AEDA4C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682351-B1A1-48A5-AF69-D4342FE2FAEB}">
      <dsp:nvSpPr>
        <dsp:cNvPr id="0" name=""/>
        <dsp:cNvSpPr/>
      </dsp:nvSpPr>
      <dsp:spPr>
        <a:xfrm>
          <a:off x="0" y="2175669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CRC32</a:t>
          </a:r>
        </a:p>
      </dsp:txBody>
      <dsp:txXfrm>
        <a:off x="0" y="2175669"/>
        <a:ext cx="10515600" cy="1087834"/>
      </dsp:txXfrm>
    </dsp:sp>
    <dsp:sp modelId="{A302AC2E-9F42-4646-AAD6-4EC0DDAB35E3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F970E8-7815-4DEF-A376-126D9C862C6A}">
      <dsp:nvSpPr>
        <dsp:cNvPr id="0" name=""/>
        <dsp:cNvSpPr/>
      </dsp:nvSpPr>
      <dsp:spPr>
        <a:xfrm>
          <a:off x="0" y="3263503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0" tIns="190500" rIns="190500" bIns="190500" numCol="1" spcCol="1270" anchor="t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b="1" kern="1200" dirty="0">
              <a:solidFill>
                <a:srgbClr val="FF0000"/>
              </a:solidFill>
            </a:rPr>
            <a:t>MD5</a:t>
          </a:r>
        </a:p>
      </dsp:txBody>
      <dsp:txXfrm>
        <a:off x="0" y="3263503"/>
        <a:ext cx="10515600" cy="10878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5EBBF-D1FF-F067-9418-1F994ADEF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2FBDD0-9B0F-8E1A-0847-CF331A39D9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EF9844-F7E1-8008-9F8A-EBBCBDC64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286B0-E8A9-69BD-A1AB-9CF3DE70D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F92958-1905-9FF7-12CB-A1EAE7A7A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482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8AAB-92CA-43EB-D554-F02F892AC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6DD27-8121-A879-50FA-CE85506B1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620E6-C2A6-689E-763E-CC3876F75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96149-730E-CDAE-A1BE-9670AD497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9CAA0-FF15-A3A3-5879-EDCE390D1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48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F0C67-0F53-0244-9FD5-B9E7B0DD6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3AFBC2-C7BC-87A3-2187-CC99D5F78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902FA-0E08-FA41-6A3E-035260EF5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A421B-F3F3-E529-AFA1-F92EE0648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9211E-1AB8-1245-8D43-BE8B1C2C2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75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37AF9-2250-C71E-E1B4-26A2CDBFE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D1655-C3EE-9AC7-D496-675B9618A9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9F3795-2395-8A45-C241-E0C3E7DE1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B30035-FBC1-2450-BDB1-3EBAA3011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A59152-3D19-4D5D-F90D-BBF0C47A5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092B28-734C-C82A-8EEB-E302F568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907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3E015-3C8B-6474-E2A6-722100B59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D894BF-066D-2C43-F9AF-C18D4D3D0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6BA5A1-198F-A364-FB4F-519F4DBF37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93E99A-989B-9DE6-7FB9-38CE94C9AD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CDF6E5-B0F1-876C-34FD-8068D3843B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AF6A77-C03B-0EFF-93AA-C1077FB4A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178533-DBFE-ACC9-FD4D-F095C3F26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0E55F5-1A8C-8C59-CCDB-AAFB098A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40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D1CE-D669-3041-A681-F7BCD6D93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2D02AC-8F17-CBFE-579D-3025000E5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8EE94D-801F-98D9-00F4-C08B7BDA1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4F4E52-6B12-00E8-F185-DFBFDCB3F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253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131F8E-D6BB-6E5B-17E3-3A4C6F982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62DA51-FF0E-92C4-10D3-447B986D4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5E871E-1928-9A3C-FE61-899C1B42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409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26BCF-F116-698B-A25B-2BC65323E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7CD2D-C543-5498-7305-3E31C58BB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2EF04F-5FFD-39E4-F732-62B4C8052E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A29521-09A1-EE8A-B3BB-0BCD0E65A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3DCA82-852A-58BF-A4B7-57A5C0FDA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BCD68C-A794-62E7-3FF0-D341D22D5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406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54ED9-596F-55AD-1245-99AB3316D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AACE27-42C7-F45E-E9F1-56A1263738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4516-42FD-B3A8-D1C8-FB514C2AEF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722854-EC62-AE2B-0A06-C256DA835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DB5BAA-93B8-06F9-5B36-AEC099E58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3B3640-5FCA-4930-6205-DFC8ACA9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92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E1815-1410-B39E-29D8-05475C3BE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F91F0D-C0F3-FA3E-D2F2-7726B692F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F43BD-23C3-1403-E2E4-2A461B3C1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0207A-08F7-3670-270A-D0BA25ED8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E3875B-E86B-44B9-C999-E7083C91E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08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77BEC4-502F-C6ED-51DD-DD1CF01693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A0CD3C-F152-EF61-BEE2-91AC3A5F0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1760B-381C-6D07-72EF-11BB147F3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3EEBE-6A26-0518-BAD1-E140FE297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F4986-1DCE-ED81-D362-CDD41A029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552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168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0043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846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0949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5871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3253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785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50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8984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771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911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0BCF85-6A8C-5CCA-197B-8EE8BA3A4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E0CA41-F4AD-F56D-15EF-AEF6207EA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E4C22-64F0-9DAE-30A2-2CB2FD6129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46ECA-30FB-4F03-931F-B6980449CAEA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BB917-7035-09F5-632D-AD1AF4AE5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2AE0-E6A0-59E2-3AD3-F62154DA6D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92669F-0156-4DA3-A0D5-46F111A94E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8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294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nybles/hashing-algorithms-d10171ca2e89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hash-table-data-structure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collision-resolution-technique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Hash-table-representation-for-separate-chaining_fig2_284454241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ysadmins.lv/blog-en/array-search-hash-tables-behind-the-scenes.aspx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github.com/abseil/abseil-cpp" TargetMode="Externa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8FA69-E5BC-251A-8F68-EFF46F34B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Hash tables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41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54CE-E004-3221-C348-6F26032A2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Hash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9CAAD-6EE8-7DBA-7631-008B5BE46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912" y="5645150"/>
            <a:ext cx="8258176" cy="6318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 the input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5240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133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ue and black icon with a hashtag&#10;&#10;AI-generated content may be incorrect.">
            <a:extLst>
              <a:ext uri="{FF2B5EF4-FFF2-40B4-BE49-F238E27FC236}">
                <a16:creationId xmlns:a16="http://schemas.microsoft.com/office/drawing/2014/main" id="{32F14575-5789-B15A-CA4E-0BC1F92658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152568"/>
            <a:ext cx="10905066" cy="45528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72BE24-F127-84D0-55FC-794FDE890FCB}"/>
              </a:ext>
            </a:extLst>
          </p:cNvPr>
          <p:cNvSpPr txBox="1"/>
          <p:nvPr/>
        </p:nvSpPr>
        <p:spPr>
          <a:xfrm>
            <a:off x="2820712" y="829402"/>
            <a:ext cx="6550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https://medium.com/nybles/hashing-algorithms-d10171ca2e89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8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B1E31-F400-90D0-33B7-D155ED6BD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hashing algorithms</a:t>
            </a:r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45EA2CCD-C684-23BA-FD7D-FB306E18D3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2715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47048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function&#10;&#10;AI-generated content may be incorrect.">
            <a:extLst>
              <a:ext uri="{FF2B5EF4-FFF2-40B4-BE49-F238E27FC236}">
                <a16:creationId xmlns:a16="http://schemas.microsoft.com/office/drawing/2014/main" id="{01548A25-C123-B51D-B91A-5435482C77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757258"/>
            <a:ext cx="10905066" cy="53434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91697E-5FA6-12AB-3459-D94238BD86A5}"/>
              </a:ext>
            </a:extLst>
          </p:cNvPr>
          <p:cNvSpPr txBox="1"/>
          <p:nvPr/>
        </p:nvSpPr>
        <p:spPr>
          <a:xfrm>
            <a:off x="2765648" y="434092"/>
            <a:ext cx="64432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https://www.geeksforgeeks.org/dsa/hash-table-data-structure/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438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768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701713CD-CCBD-6646-482F-68C56F15F7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111674"/>
            <a:ext cx="10905066" cy="463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363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9EFF-5B3A-5CB3-E942-696986422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EE338-A499-A1DE-6823-D8F88D398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Storage for unique elements, with </a:t>
            </a:r>
            <a:r>
              <a:rPr lang="en-US" sz="3200" b="1" i="1" dirty="0"/>
              <a:t>O(1) </a:t>
            </a:r>
            <a:r>
              <a:rPr lang="en-US" sz="3200" b="1" dirty="0"/>
              <a:t>search time</a:t>
            </a:r>
            <a:r>
              <a:rPr lang="en-US" sz="3200" dirty="0"/>
              <a:t>.</a:t>
            </a:r>
          </a:p>
          <a:p>
            <a:pPr lvl="1"/>
            <a:r>
              <a:rPr lang="en-US" sz="2800" dirty="0"/>
              <a:t>Unordered set</a:t>
            </a:r>
          </a:p>
          <a:p>
            <a:pPr lvl="1"/>
            <a:r>
              <a:rPr lang="en-US" sz="2800" dirty="0"/>
              <a:t>Unordered map</a:t>
            </a:r>
          </a:p>
        </p:txBody>
      </p:sp>
    </p:spTree>
    <p:extLst>
      <p:ext uri="{BB962C8B-B14F-4D97-AF65-F5344CB8AC3E}">
        <p14:creationId xmlns:p14="http://schemas.microsoft.com/office/powerpoint/2010/main" val="2021162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F03920-5A09-840C-B4E7-E4F10EB3F5E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681037"/>
                <a:ext cx="10515600" cy="1325563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6000" b="0" i="0" smtClean="0">
                        <a:latin typeface="Cambria Math" panose="02040503050406030204" pitchFamily="18" charset="0"/>
                      </a:rPr>
                      <m:t>Load</m:t>
                    </m:r>
                    <m:r>
                      <a:rPr lang="en-US" sz="6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6000" b="0" i="0" smtClean="0">
                        <a:latin typeface="Cambria Math" panose="02040503050406030204" pitchFamily="18" charset="0"/>
                      </a:rPr>
                      <m:t>factor</m:t>
                    </m:r>
                    <m:r>
                      <a:rPr lang="en-US" sz="6000" b="0" i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6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br>
                  <a:rPr lang="en-US" b="0" dirty="0"/>
                </a:b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0F03920-5A09-840C-B4E7-E4F10EB3F5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681037"/>
                <a:ext cx="10515600" cy="1325563"/>
              </a:xfrm>
              <a:blipFill>
                <a:blip r:embed="rId2"/>
                <a:stretch>
                  <a:fillRect t="-105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3399C-1149-8BDB-40A8-55AFD4CC6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size of the table </a:t>
            </a:r>
            <a:r>
              <a:rPr lang="en-US" sz="3600" dirty="0">
                <a:sym typeface="Wingdings" panose="05000000000000000000" pitchFamily="2" charset="2"/>
              </a:rPr>
              <a:t></a:t>
            </a:r>
            <a:r>
              <a:rPr lang="en-US" sz="3600" dirty="0"/>
              <a:t> </a:t>
            </a:r>
            <a:r>
              <a:rPr lang="en-US" sz="3600" i="1" dirty="0"/>
              <a:t>n</a:t>
            </a:r>
          </a:p>
          <a:p>
            <a:r>
              <a:rPr lang="en-US" sz="3600" dirty="0"/>
              <a:t>The number of occupied slots </a:t>
            </a:r>
            <a:r>
              <a:rPr lang="en-US" sz="3600" dirty="0">
                <a:sym typeface="Wingdings" panose="05000000000000000000" pitchFamily="2" charset="2"/>
              </a:rPr>
              <a:t></a:t>
            </a:r>
            <a:r>
              <a:rPr lang="en-US" sz="3600" dirty="0"/>
              <a:t> </a:t>
            </a:r>
            <a:r>
              <a:rPr lang="en-US" sz="3600" i="1" dirty="0"/>
              <a:t>k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28716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E354-329B-028A-2D4F-2C88D4737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43F32E-EFDD-42B8-1B48-FF0F18650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𝑙𝑜𝑎𝑑𝐹𝑎𝑐𝑡𝑜𝑟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𝑡h𝑟𝑒𝑠h𝑜𝑙𝑑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43F32E-EFDD-42B8-1B48-FF0F18650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2227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909D9-3A7B-952E-9274-EB3963174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CBA-EAFE-CA40-337D-E09A747DD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DEFB17-CB4A-01CF-9205-57F59547DC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𝑙𝑜𝑎𝑑𝐹𝑎𝑐𝑡𝑜𝑟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𝑡h𝑟𝑒𝑠h𝑜𝑙𝑑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Increase the table size &amp; recalculate hashes for elements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DEFB17-CB4A-01CF-9205-57F59547DC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8504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C6033E-E6FC-5A9F-C981-18FDA7AB6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Collisions</a:t>
            </a:r>
          </a:p>
        </p:txBody>
      </p:sp>
    </p:spTree>
    <p:extLst>
      <p:ext uri="{BB962C8B-B14F-4D97-AF65-F5344CB8AC3E}">
        <p14:creationId xmlns:p14="http://schemas.microsoft.com/office/powerpoint/2010/main" val="3057940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function&#10;&#10;AI-generated content may be incorrect.">
            <a:extLst>
              <a:ext uri="{FF2B5EF4-FFF2-40B4-BE49-F238E27FC236}">
                <a16:creationId xmlns:a16="http://schemas.microsoft.com/office/drawing/2014/main" id="{DF480347-F3AD-C55C-4FB2-87A61DBA3B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059350"/>
            <a:ext cx="10905066" cy="471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965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Blue arrows pointing at a red button">
            <a:extLst>
              <a:ext uri="{FF2B5EF4-FFF2-40B4-BE49-F238E27FC236}">
                <a16:creationId xmlns:a16="http://schemas.microsoft.com/office/drawing/2014/main" id="{332A478D-8BBF-13C3-9669-AC54CF7EAC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627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81AB35-F792-8758-7528-6B35FBEF6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dirty="0">
                <a:solidFill>
                  <a:schemeClr val="bg1"/>
                </a:solidFill>
              </a:rPr>
              <a:t>Collision resolution techniques</a:t>
            </a:r>
            <a:br>
              <a:rPr lang="en-US" sz="4800" b="1" dirty="0">
                <a:solidFill>
                  <a:schemeClr val="bg1"/>
                </a:solidFill>
              </a:rPr>
            </a:b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7616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solution&#10;&#10;AI-generated content may be incorrect.">
            <a:extLst>
              <a:ext uri="{FF2B5EF4-FFF2-40B4-BE49-F238E27FC236}">
                <a16:creationId xmlns:a16="http://schemas.microsoft.com/office/drawing/2014/main" id="{3151F3CF-68CF-4C16-8AFD-A07663F55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8384" y="327915"/>
            <a:ext cx="8615231" cy="620216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8DF30E-11C6-D22D-55E7-77C8D757C22F}"/>
              </a:ext>
            </a:extLst>
          </p:cNvPr>
          <p:cNvSpPr txBox="1"/>
          <p:nvPr/>
        </p:nvSpPr>
        <p:spPr>
          <a:xfrm>
            <a:off x="2617995" y="0"/>
            <a:ext cx="6956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https://www.geeksforgeeks.org/dsa/collision-resolution-techniques/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052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Link">
            <a:extLst>
              <a:ext uri="{FF2B5EF4-FFF2-40B4-BE49-F238E27FC236}">
                <a16:creationId xmlns:a16="http://schemas.microsoft.com/office/drawing/2014/main" id="{5A89E232-DF88-40A7-2D10-B7458A420D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9303" y="1119116"/>
            <a:ext cx="2213635" cy="2213635"/>
          </a:xfrm>
          <a:prstGeom prst="rect">
            <a:avLst/>
          </a:prstGeom>
        </p:spPr>
      </p:pic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FDE0E8-0130-49CE-A694-285E669B5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9304" y="3429000"/>
            <a:ext cx="8921672" cy="171330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Separate chaining</a:t>
            </a:r>
          </a:p>
        </p:txBody>
      </p:sp>
    </p:spTree>
    <p:extLst>
      <p:ext uri="{BB962C8B-B14F-4D97-AF65-F5344CB8AC3E}">
        <p14:creationId xmlns:p14="http://schemas.microsoft.com/office/powerpoint/2010/main" val="4110123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umber&#10;&#10;AI-generated content may be incorrect.">
            <a:extLst>
              <a:ext uri="{FF2B5EF4-FFF2-40B4-BE49-F238E27FC236}">
                <a16:creationId xmlns:a16="http://schemas.microsoft.com/office/drawing/2014/main" id="{B1A4B2D7-E5B2-CEAB-35DA-4146656714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855" y="821078"/>
            <a:ext cx="8424289" cy="573307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D0A0E2-B78C-2AAA-3703-952165F63BE4}"/>
              </a:ext>
            </a:extLst>
          </p:cNvPr>
          <p:cNvSpPr txBox="1"/>
          <p:nvPr/>
        </p:nvSpPr>
        <p:spPr>
          <a:xfrm>
            <a:off x="882231" y="233385"/>
            <a:ext cx="104275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https://www.researchgate.net/figure/Hash-table-representation-for-separate-chaining_fig2_284454241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5803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7E039-2FDD-D571-F788-1E491DE2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– separate chaining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5EDA7-E827-3D2F-5DC6-1844F04AA8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𝐻𝑎𝑠h</m:t>
                    </m:r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 5</m:t>
                    </m:r>
                  </m:oMath>
                </a14:m>
                <a:endParaRPr lang="en-US" sz="3600" dirty="0"/>
              </a:p>
              <a:p>
                <a:r>
                  <a:rPr lang="en-US" sz="3600" dirty="0"/>
                  <a:t>Data stream: 4, 71, 33, 25, 99, 38, 13, 34, 1, 77</a:t>
                </a:r>
              </a:p>
              <a:p>
                <a:r>
                  <a:rPr lang="en-US" sz="3600" dirty="0"/>
                  <a:t>Hash table size = 5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5EDA7-E827-3D2F-5DC6-1844F04AA8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184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Triangle 22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E91875-1E4C-02EB-4420-DF23A1DA2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9304" y="3429000"/>
            <a:ext cx="8921672" cy="171330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Linear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AE3EF1-044A-F147-4745-3B547278FC18}"/>
                  </a:ext>
                </a:extLst>
              </p:cNvPr>
              <p:cNvSpPr txBox="1"/>
              <p:nvPr/>
            </p:nvSpPr>
            <p:spPr>
              <a:xfrm>
                <a:off x="1246755" y="1771650"/>
                <a:ext cx="7501477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𝐻𝑎𝑠h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𝑘𝑒𝑦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𝑘𝑒𝑦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AE3EF1-044A-F147-4745-3B547278F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755" y="1771650"/>
                <a:ext cx="7501477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633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D58029-0993-6781-605C-B83F872AB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42CE639-12BE-DB0D-C093-32C6DA31C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Triangle 22">
            <a:extLst>
              <a:ext uri="{FF2B5EF4-FFF2-40B4-BE49-F238E27FC236}">
                <a16:creationId xmlns:a16="http://schemas.microsoft.com/office/drawing/2014/main" id="{E0906259-7948-3353-9656-387805493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A1A63C-99E2-2D37-1B81-8FBDEA6521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64970E-02EC-D932-8922-09A36B900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9304" y="3429000"/>
            <a:ext cx="8921672" cy="171330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Linear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025999-C057-57A3-E11D-F71F2A88EAD0}"/>
                  </a:ext>
                </a:extLst>
              </p:cNvPr>
              <p:cNvSpPr txBox="1"/>
              <p:nvPr/>
            </p:nvSpPr>
            <p:spPr>
              <a:xfrm>
                <a:off x="1246755" y="1771650"/>
                <a:ext cx="7501477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𝐻𝑎𝑠h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𝑘𝑒𝑦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𝑘𝑒𝑦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025999-C057-57A3-E11D-F71F2A88E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755" y="1771650"/>
                <a:ext cx="7501477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98E3BA-EA67-7246-5C3A-6A87C0C9CA95}"/>
                  </a:ext>
                </a:extLst>
              </p:cNvPr>
              <p:cNvSpPr txBox="1"/>
              <p:nvPr/>
            </p:nvSpPr>
            <p:spPr>
              <a:xfrm>
                <a:off x="1246755" y="2538369"/>
                <a:ext cx="294644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=0, 1, 2, …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98E3BA-EA67-7246-5C3A-6A87C0C9C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755" y="2538369"/>
                <a:ext cx="2946448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173B68-4F58-ED66-F03F-3D6C917E47A4}"/>
                  </a:ext>
                </a:extLst>
              </p:cNvPr>
              <p:cNvSpPr txBox="1"/>
              <p:nvPr/>
            </p:nvSpPr>
            <p:spPr>
              <a:xfrm>
                <a:off x="1246755" y="3205671"/>
                <a:ext cx="36002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𝑙𝑒𝑛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𝑡𝑎𝑏𝑙𝑒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173B68-4F58-ED66-F03F-3D6C917E4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755" y="3205671"/>
                <a:ext cx="360028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1137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umber&#10;&#10;AI-generated content may be incorrect.">
            <a:extLst>
              <a:ext uri="{FF2B5EF4-FFF2-40B4-BE49-F238E27FC236}">
                <a16:creationId xmlns:a16="http://schemas.microsoft.com/office/drawing/2014/main" id="{0A341BEF-9A22-53EA-77D9-995BC1FC3E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711" y="840641"/>
            <a:ext cx="10440578" cy="5409803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F09746-EEF3-4316-27FC-5F58A34A5C16}"/>
              </a:ext>
            </a:extLst>
          </p:cNvPr>
          <p:cNvSpPr txBox="1"/>
          <p:nvPr/>
        </p:nvSpPr>
        <p:spPr>
          <a:xfrm>
            <a:off x="1753785" y="200561"/>
            <a:ext cx="86844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https://www.sysadmins.lv/blog-en/array-search-hash-tables-behind-the-scenes.aspx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5483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E16BF-2044-E042-B64E-E9D57E80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– Primary Clustering</a:t>
            </a:r>
          </a:p>
        </p:txBody>
      </p:sp>
    </p:spTree>
    <p:extLst>
      <p:ext uri="{BB962C8B-B14F-4D97-AF65-F5344CB8AC3E}">
        <p14:creationId xmlns:p14="http://schemas.microsoft.com/office/powerpoint/2010/main" val="484105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FEE62E-A6DC-4C72-AC52-02631FA61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>
            <a:normAutofit/>
          </a:bodyPr>
          <a:lstStyle/>
          <a:p>
            <a:r>
              <a:rPr lang="en-US" dirty="0"/>
              <a:t>Quadratic probing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8F85FE-072A-DBA8-D880-9519315764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955" y="1244955"/>
            <a:ext cx="9875259" cy="108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480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093162-7FCF-44D4-97CD-DC7E2FFD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9305" y="3415754"/>
            <a:ext cx="9471956" cy="1137111"/>
          </a:xfrm>
        </p:spPr>
        <p:txBody>
          <a:bodyPr>
            <a:normAutofit/>
          </a:bodyPr>
          <a:lstStyle/>
          <a:p>
            <a:r>
              <a:rPr lang="en-US" sz="5400"/>
              <a:t>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805C34-B0AC-FBEF-2F7A-CFF1D18B76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05" y="1867816"/>
            <a:ext cx="10526789" cy="92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3467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9D824-ECD1-BD18-B716-D33C9C0B0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C3FE6C-0034-EAC3-AD96-913B8474F8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𝐻𝑎𝑠h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+  </m:t>
                        </m:r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𝑡𝑎𝑏𝑙𝑒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𝑠𝑖𝑧𝑒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…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Data: 7, 14, 21, 23, 5, 6</a:t>
                </a:r>
              </a:p>
              <a:p>
                <a:r>
                  <a:rPr lang="en-US" i="1" dirty="0">
                    <a:latin typeface="Cambria Math" panose="02040503050406030204" pitchFamily="18" charset="0"/>
                  </a:rPr>
                  <a:t>Table size = 7</a:t>
                </a: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C3FE6C-0034-EAC3-AD96-913B8474F8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302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4CD4F-B264-FBB5-25B8-02C92BD56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F.Y.I.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0C6DA-3AA3-F6A4-2754-617364A9A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Abseil – Google’s C++ util lib – Hash uses Quadratic probing</a:t>
            </a:r>
          </a:p>
          <a:p>
            <a:pPr lvl="1"/>
            <a:r>
              <a:rPr lang="en-US" dirty="0">
                <a:hlinkClick r:id="rId2"/>
              </a:rPr>
              <a:t>https://github.com/abseil/abseil-cpp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Open problem: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13800E-8F18-3F21-B1E2-69064A1093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85" y="3575020"/>
            <a:ext cx="12098515" cy="105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706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146EA-E397-D033-FFBF-1E15E356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Double hashing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2A7987-27EF-6AD6-498E-FA48C0BF3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48999"/>
            <a:ext cx="9147273" cy="975710"/>
          </a:xfrm>
        </p:spPr>
      </p:pic>
    </p:spTree>
    <p:extLst>
      <p:ext uri="{BB962C8B-B14F-4D97-AF65-F5344CB8AC3E}">
        <p14:creationId xmlns:p14="http://schemas.microsoft.com/office/powerpoint/2010/main" val="411045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B9C51-9518-FDC4-AA13-E1E22BEA3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76A58D-AC01-5848-B5E7-88F1E5C9B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h𝑎𝑠h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𝑡𝑎𝑏𝑙𝑒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=6+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Data: 3, 2, 1, 4, 7</a:t>
                </a:r>
              </a:p>
              <a:p>
                <a:r>
                  <a:rPr lang="en-US" dirty="0"/>
                  <a:t>Table size = 5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76A58D-AC01-5848-B5E7-88F1E5C9B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725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353</Words>
  <Application>Microsoft Office PowerPoint</Application>
  <PresentationFormat>Widescreen</PresentationFormat>
  <Paragraphs>63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Cambria Math</vt:lpstr>
      <vt:lpstr>Wingdings</vt:lpstr>
      <vt:lpstr>Office Theme</vt:lpstr>
      <vt:lpstr>1_Office Theme</vt:lpstr>
      <vt:lpstr>Data Structures and Algorithms I.</vt:lpstr>
      <vt:lpstr>Hash tables</vt:lpstr>
      <vt:lpstr>Hash function</vt:lpstr>
      <vt:lpstr>PowerPoint Presentation</vt:lpstr>
      <vt:lpstr>Popular hashing algorithms</vt:lpstr>
      <vt:lpstr>PowerPoint Presentation</vt:lpstr>
      <vt:lpstr>PowerPoint Presentation</vt:lpstr>
      <vt:lpstr>Motivation</vt:lpstr>
      <vt:lpstr> Load factor=  k/n  </vt:lpstr>
      <vt:lpstr>Rehashing</vt:lpstr>
      <vt:lpstr>Rehashing</vt:lpstr>
      <vt:lpstr>Collisions</vt:lpstr>
      <vt:lpstr>PowerPoint Presentation</vt:lpstr>
      <vt:lpstr>Collision resolution techniques </vt:lpstr>
      <vt:lpstr>PowerPoint Presentation</vt:lpstr>
      <vt:lpstr>Separate chaining</vt:lpstr>
      <vt:lpstr>PowerPoint Presentation</vt:lpstr>
      <vt:lpstr>Exercise – separate chaining</vt:lpstr>
      <vt:lpstr>Linear probing</vt:lpstr>
      <vt:lpstr>Linear probing</vt:lpstr>
      <vt:lpstr>PowerPoint Presentation</vt:lpstr>
      <vt:lpstr>Problem – Primary Clustering</vt:lpstr>
      <vt:lpstr>Quadratic probing</vt:lpstr>
      <vt:lpstr>Example</vt:lpstr>
      <vt:lpstr>Exercise</vt:lpstr>
      <vt:lpstr>F.Y.I. </vt:lpstr>
      <vt:lpstr>Double hashing</vt:lpstr>
      <vt:lpstr>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14</cp:revision>
  <dcterms:created xsi:type="dcterms:W3CDTF">2025-09-05T17:32:44Z</dcterms:created>
  <dcterms:modified xsi:type="dcterms:W3CDTF">2025-09-06T14:39:39Z</dcterms:modified>
</cp:coreProperties>
</file>